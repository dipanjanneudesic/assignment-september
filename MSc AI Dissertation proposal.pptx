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58D5C-ADFD-7B67-68B5-A126565687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25D07-A77A-95DB-5963-A33B78C8D9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7AF8D-C922-46D9-E431-112CE3B27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1A43C-EE83-47BC-8DD1-DBB1CAE4E9D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56191-9735-3D26-E731-B9DE37D7D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F1D67-E369-11E0-EA72-16C24E2B9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1BD32-0FF5-4536-9FD1-2BC9CB12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748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976F7-C900-81BF-61B4-F56CED5DD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69F4F-1578-9283-F877-6BA75CEFE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FBEE54-8999-24DE-7524-F5E34DFC9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1A43C-EE83-47BC-8DD1-DBB1CAE4E9D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99A25-215E-7A38-7C29-599F3B37F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2ED86-6727-B62D-DAEF-E6CA83209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1BD32-0FF5-4536-9FD1-2BC9CB12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617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D61CC-1D64-9E81-ED27-E48ADBC91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B3796-60C1-A1A3-6C07-3AF202CEE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12F68-373A-5B84-59F9-3781BD51F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1A43C-EE83-47BC-8DD1-DBB1CAE4E9D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D3350-F6BD-7EEF-00DC-3AA93F69D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9DAFA-960E-A59F-2D46-944D5B582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1BD32-0FF5-4536-9FD1-2BC9CB12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93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C6D9B-413C-CBDF-C7C6-9B868772A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A37D1-BCE6-81BF-78C3-BEA9326021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14FA05-C173-24BD-8CA6-2CAC65241D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06E13-F676-7F67-9D7E-5695A60A8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1A43C-EE83-47BC-8DD1-DBB1CAE4E9D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E81AE-9482-601D-C36E-8F0D7028C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4B2BA-72D0-6FE8-716F-542CD5B07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1BD32-0FF5-4536-9FD1-2BC9CB12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56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32897-CEA7-4109-86A6-CCF2448EF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3AC0B-C40C-09F4-4206-E6662681D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25D4D-B01C-5AED-C8F9-50B3766B2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499086-4647-D8D9-2512-78461F8E7C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85808B-B481-8DEF-8E68-DC6E46FF9B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038F94-C67D-0A1C-B03F-BDC09C051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1A43C-EE83-47BC-8DD1-DBB1CAE4E9D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179E7D-839D-520E-FAAA-87EC6040F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A2EED8-6823-7565-1492-62A8362B4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1BD32-0FF5-4536-9FD1-2BC9CB12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62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10CD0-D869-61C0-4E08-0AA22B88B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B04EEB-48D9-D578-53C4-24D48BC21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1A43C-EE83-47BC-8DD1-DBB1CAE4E9D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1DE386-A5BD-53F1-617A-7871CB5C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8A62F8-CF54-A07A-0A9E-DD1A9D146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1BD32-0FF5-4536-9FD1-2BC9CB12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490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961F41-69E3-A00D-4E86-8FD4FB3D2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1A43C-EE83-47BC-8DD1-DBB1CAE4E9D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49CFE3-EF20-71B3-0A90-DDAACF9F0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5E4D9-6AA0-E6A8-4466-546E5DBEC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1BD32-0FF5-4536-9FD1-2BC9CB12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78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37DF0-6CEB-2F9A-4AFB-4E839CCB0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2D94B-9AB2-9FCD-B953-762AC62F8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1481F0-07FD-97BE-BEDB-F053F8DBDC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CFA2EB-19D0-ED2D-79EC-DC28724C4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1A43C-EE83-47BC-8DD1-DBB1CAE4E9D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946F33-4C9B-FEB7-8BD4-B7C80885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7D6D0C-07F7-162C-B7F7-E83DC6B58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1BD32-0FF5-4536-9FD1-2BC9CB12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082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C386E-F888-3D06-B22B-7EC183E11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4CC35C-F7E9-4563-DF3D-32CB6E19EC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76B648-6B58-CE54-C059-929404010A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D9619-3085-CB9A-B3CF-660F0F536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1A43C-EE83-47BC-8DD1-DBB1CAE4E9D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321E62-44A9-9AEE-DF19-C3D890A6F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2FFD18-A023-46B3-F1D5-B954FC4B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1BD32-0FF5-4536-9FD1-2BC9CB12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885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FDB6A-BC3D-304F-78A0-2DCA1B496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2C1DB5-DD54-DA14-4A2C-DF5EDB473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9FB88-9B55-3F97-9ED3-2A1889709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1A43C-EE83-47BC-8DD1-DBB1CAE4E9D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8B653-1823-C384-7FE1-2FE1E4D07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FCC4A-F707-A4AF-E021-975D4E76A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1BD32-0FF5-4536-9FD1-2BC9CB12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32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624826-38CF-D78F-6620-A50904F43A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D61C8D-1A7B-EF4B-5F49-8BD214E5C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48BE7-11CE-AC75-8ABD-0E559A00F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1A43C-EE83-47BC-8DD1-DBB1CAE4E9D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12CC7-3FF8-CD13-84D6-F8AE1ED27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26F66-A8E4-5198-B05D-7C03DF32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1BD32-0FF5-4536-9FD1-2BC9CB12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075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AF98F3-C745-697E-51F4-037AE54A7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19B1D-5FF9-F760-7B6D-E5DB3A7C1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113EC-24FB-DEBF-5715-498272822E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61A43C-EE83-47BC-8DD1-DBB1CAE4E9D8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7884B-9E7B-69EA-54FD-F56D474B48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8B1EE-EBC3-69A9-28B5-CEB9956585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51BD32-0FF5-4536-9FD1-2BC9CB12D6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42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FEC590B-3306-47E9-BD67-97F3F7616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54F87DBC-E43C-4CE4-A8C5-61E3D68194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Color">
              <a:extLst>
                <a:ext uri="{FF2B5EF4-FFF2-40B4-BE49-F238E27FC236}">
                  <a16:creationId xmlns:a16="http://schemas.microsoft.com/office/drawing/2014/main" id="{CD39A88A-7F84-4ACA-877B-E28BC26CD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47AAF5E-1692-48C9-98FB-6432BF0B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F36A26D-E71D-4663-B197-8B7BFA37A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A821CEB-DA96-4952-93B9-81F9C42BA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C8EDE0-D69B-4F65-9AB7-DDE7EAD78E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46F0982-BF10-4BF6-842A-F631654FF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B313509-2128-42CA-81B6-C9EC23E44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589188C-E06E-4F8A-BDD1-02ADF140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4E610F-FCD0-483F-B9F2-6DF2C28FE8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CA4672-034E-9546-E2E3-ADAE8A32AB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8" y="666351"/>
            <a:ext cx="10558405" cy="3044335"/>
          </a:xfrm>
        </p:spPr>
        <p:txBody>
          <a:bodyPr anchor="b"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MSc AI Dissertation proposal</a:t>
            </a:r>
            <a:br>
              <a:rPr lang="en-US" sz="4800" dirty="0">
                <a:solidFill>
                  <a:schemeClr val="bg1"/>
                </a:solidFill>
              </a:rPr>
            </a:b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800" dirty="0">
                <a:solidFill>
                  <a:schemeClr val="bg1"/>
                </a:solidFill>
              </a:rPr>
              <a:t>Sustainable Crop Yield prediction via Multi-modal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D454B-96CF-F923-BCBC-5FC8A877F0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8" y="3866064"/>
            <a:ext cx="10558405" cy="2234485"/>
          </a:xfrm>
        </p:spPr>
        <p:txBody>
          <a:bodyPr anchor="t">
            <a:norm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8478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B23750-C06C-3EB5-649E-8B704FC8E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Slide Background Fill">
            <a:extLst>
              <a:ext uri="{FF2B5EF4-FFF2-40B4-BE49-F238E27FC236}">
                <a16:creationId xmlns:a16="http://schemas.microsoft.com/office/drawing/2014/main" id="{6F2F67B1-348C-FD1A-1180-7AED604DE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00C6A44-81D5-DB54-DA9C-6B2CD7BA2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F0582DF8-5A05-2564-84DE-3B6FC228F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Color">
              <a:extLst>
                <a:ext uri="{FF2B5EF4-FFF2-40B4-BE49-F238E27FC236}">
                  <a16:creationId xmlns:a16="http://schemas.microsoft.com/office/drawing/2014/main" id="{EB0C1A79-BDAA-2E7B-E2E2-B6DFBE2EA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79C0917-4749-FB3A-79C0-CE5D30F4A4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50E5621-CFD4-1E49-7E7C-46EC613506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911B1AB-DCED-72E7-C79E-3A6E93795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6D052E2-888D-45D4-C597-BECD35FEB4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01A756E-0B11-EBDC-77ED-B6B3E4C55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3BD316C-7F27-35F2-6232-0A441CA34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3D60F-EB14-D82D-9E19-38F165E669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52EB641-3910-EA8B-4DDC-3E57AFA2E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3888B90-C7E0-E365-7308-F11D7C8EC3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8" y="666351"/>
            <a:ext cx="10558405" cy="3044335"/>
          </a:xfrm>
        </p:spPr>
        <p:txBody>
          <a:bodyPr anchor="b"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Background :- </a:t>
            </a:r>
            <a:r>
              <a:rPr lang="en-US" sz="2400" dirty="0" err="1">
                <a:solidFill>
                  <a:schemeClr val="bg1"/>
                </a:solidFill>
              </a:rPr>
              <a:t>raditional</a:t>
            </a:r>
            <a:r>
              <a:rPr lang="en-US" sz="2400" dirty="0">
                <a:solidFill>
                  <a:schemeClr val="bg1"/>
                </a:solidFill>
              </a:rPr>
              <a:t> crop yield models often rely on a single data modality, failing to capture the complex relationship between spatial vegetation health and temporal weather patterns</a:t>
            </a:r>
            <a:br>
              <a:rPr lang="en-US" sz="2400" dirty="0">
                <a:solidFill>
                  <a:schemeClr val="bg1"/>
                </a:solidFill>
              </a:rPr>
            </a:b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Aims :- To design a robust AI framework that integrates heterogeneous data sources to improve the accuracy and reliability of agricultural forecasts.</a:t>
            </a:r>
            <a:br>
              <a:rPr lang="en-US" sz="2400" dirty="0">
                <a:solidFill>
                  <a:schemeClr val="bg1"/>
                </a:solidFill>
              </a:rPr>
            </a:b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9614C8-569E-30E2-F3DC-105C032B5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8" y="3866064"/>
            <a:ext cx="10558405" cy="2234485"/>
          </a:xfrm>
        </p:spPr>
        <p:txBody>
          <a:bodyPr anchor="t">
            <a:normAutofit fontScale="92500"/>
          </a:bodyPr>
          <a:lstStyle/>
          <a:p>
            <a:r>
              <a:rPr lang="en-US" dirty="0">
                <a:solidFill>
                  <a:schemeClr val="bg1"/>
                </a:solidFill>
              </a:rPr>
              <a:t>Research Questions 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How does fusing pixel-level imagery with tabular climate data reduce error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Which fusion strategy (Early vs Late) maximizes robustness</a:t>
            </a:r>
          </a:p>
          <a:p>
            <a:r>
              <a:rPr lang="en-US" dirty="0">
                <a:solidFill>
                  <a:schemeClr val="bg1"/>
                </a:solidFill>
              </a:rPr>
              <a:t>Contextual Novelty :- Current models rely on single novelties, missing the complex interplay between spatial vegetation health and temporal climate variables</a:t>
            </a:r>
          </a:p>
        </p:txBody>
      </p:sp>
    </p:spTree>
    <p:extLst>
      <p:ext uri="{BB962C8B-B14F-4D97-AF65-F5344CB8AC3E}">
        <p14:creationId xmlns:p14="http://schemas.microsoft.com/office/powerpoint/2010/main" val="3841942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AA71BB-7DF2-7DA7-F318-E1C340605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Slide Background Fill">
            <a:extLst>
              <a:ext uri="{FF2B5EF4-FFF2-40B4-BE49-F238E27FC236}">
                <a16:creationId xmlns:a16="http://schemas.microsoft.com/office/drawing/2014/main" id="{92CFCD8F-2EA2-8D63-CD14-CFBD51A48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12517A5-A7F7-7F5C-E84A-629CAB28B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9FDD30DA-A6A2-B925-8C9A-F77215489A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Color">
              <a:extLst>
                <a:ext uri="{FF2B5EF4-FFF2-40B4-BE49-F238E27FC236}">
                  <a16:creationId xmlns:a16="http://schemas.microsoft.com/office/drawing/2014/main" id="{A460D827-043E-0C9A-584A-A945C9B7B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A233945-D71C-3703-9B8F-5732D654B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F0571D2-562B-BC5C-47A0-C155667DD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F34704C-8912-F880-CA92-FC204D894E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9FF96B1-68AF-4F73-5DC5-281CB5A59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D552FA1-40EE-7F0C-95F5-65EE27E800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422EFC7-7EE8-1776-97AC-BA1BC3C6E3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4731206-DA28-388F-4764-B6A164750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8AFEE5B-FEE3-7B66-0C69-0CD2D9F4DD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84F509-1375-E262-C19D-19A4AC647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7" y="235902"/>
            <a:ext cx="10558405" cy="1982365"/>
          </a:xfrm>
        </p:spPr>
        <p:txBody>
          <a:bodyPr anchor="b"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METHODOLOGY</a:t>
            </a:r>
            <a:br>
              <a:rPr lang="en-US" sz="4800" dirty="0">
                <a:solidFill>
                  <a:schemeClr val="bg1"/>
                </a:solidFill>
              </a:rPr>
            </a:b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Rationale :- Multimodal fusion allows for a more holistic understanding of the agricultural environment than single-stream models.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FA7E0-18A4-BB66-1924-9CABA7FF4F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492" y="2337897"/>
            <a:ext cx="10558405" cy="4041397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Dataset :- </a:t>
            </a:r>
            <a:r>
              <a:rPr lang="en-US" dirty="0" err="1">
                <a:solidFill>
                  <a:schemeClr val="bg1"/>
                </a:solidFill>
              </a:rPr>
              <a:t>CropNet</a:t>
            </a:r>
            <a:r>
              <a:rPr lang="en-US" dirty="0">
                <a:solidFill>
                  <a:schemeClr val="bg1"/>
                </a:solidFill>
              </a:rPr>
              <a:t> dataset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Sentinel 2:- Multi-spectral imagery (RGB +NDVI)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WRF-HRR :- High resolution weather-time series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USDA Yield:- Ground-truth harvest data</a:t>
            </a:r>
          </a:p>
          <a:p>
            <a:r>
              <a:rPr lang="en-US" dirty="0" err="1">
                <a:solidFill>
                  <a:schemeClr val="bg1"/>
                </a:solidFill>
              </a:rPr>
              <a:t>Analaytical</a:t>
            </a:r>
            <a:r>
              <a:rPr lang="en-US" dirty="0">
                <a:solidFill>
                  <a:schemeClr val="bg1"/>
                </a:solidFill>
              </a:rPr>
              <a:t> process:-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Preprocessing: Spatial alignment of satellite pixels to weather grids and normalization of indices like NDVI.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Evaluation: Performing ablation studies to determine the individual contribution of each data modality.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4051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A67F48-C885-393F-E93A-204B06E8E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Slide Background Fill">
            <a:extLst>
              <a:ext uri="{FF2B5EF4-FFF2-40B4-BE49-F238E27FC236}">
                <a16:creationId xmlns:a16="http://schemas.microsoft.com/office/drawing/2014/main" id="{E4F660C3-9112-9DE7-A3BF-1C026133B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A1813A8-81E1-A5B6-6D19-5614B8614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A00741B8-75E4-4A58-1D83-0CD483A9C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Color">
              <a:extLst>
                <a:ext uri="{FF2B5EF4-FFF2-40B4-BE49-F238E27FC236}">
                  <a16:creationId xmlns:a16="http://schemas.microsoft.com/office/drawing/2014/main" id="{7CDDCEA4-BBDD-6798-FA1B-421C84DAAC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AFD62C8-007E-4A84-D931-0D0AF413E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9D634F-9B79-1A0C-A00A-F48795E436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1A45FFB-3D08-F753-99A3-B0D171CE7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4F4C316-8B06-36A4-1F66-6DD51E31E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B5C0841-5F50-C647-3DCB-3E36A61A64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CEBF612-C980-BEA9-3C44-AC06AD0437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918DDC-7385-9D5D-CC22-D0D237D3B7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412D39E-5D43-9BFF-7DA5-1B7DADEB52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9F8E75-4DA7-FF58-D5BE-AD5D5C891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8" y="666351"/>
            <a:ext cx="10558405" cy="980141"/>
          </a:xfrm>
        </p:spPr>
        <p:txBody>
          <a:bodyPr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Theoretical Deep Learning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3443B-775D-B7FB-51B5-9F8AF09AC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8" y="1996418"/>
            <a:ext cx="10558405" cy="4104131"/>
          </a:xfrm>
        </p:spPr>
        <p:txBody>
          <a:bodyPr anchor="t">
            <a:norm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8D11C1-3BAC-C203-096C-27AB62E54B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173" y="2696392"/>
            <a:ext cx="2736307" cy="31016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EEC79E-A1D6-B6BD-4C01-F9011E99E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5762" y="2783239"/>
            <a:ext cx="3049858" cy="31016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46977F7-AF3A-B5BE-5746-D64E5CA72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2720" y="2783239"/>
            <a:ext cx="2943440" cy="3083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653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7C1BF8-5AF7-CE00-8BA8-EE838162C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Slide Background Fill">
            <a:extLst>
              <a:ext uri="{FF2B5EF4-FFF2-40B4-BE49-F238E27FC236}">
                <a16:creationId xmlns:a16="http://schemas.microsoft.com/office/drawing/2014/main" id="{A74FAC58-FBFC-353D-92DC-CE7154498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9F5410-373C-D474-AAAB-493C49F36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1" name="Color">
              <a:extLst>
                <a:ext uri="{FF2B5EF4-FFF2-40B4-BE49-F238E27FC236}">
                  <a16:creationId xmlns:a16="http://schemas.microsoft.com/office/drawing/2014/main" id="{856D4CF2-7AD7-446B-4342-7EAD426FA9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Color">
              <a:extLst>
                <a:ext uri="{FF2B5EF4-FFF2-40B4-BE49-F238E27FC236}">
                  <a16:creationId xmlns:a16="http://schemas.microsoft.com/office/drawing/2014/main" id="{67B7A579-74F0-B16A-39E9-278E47F2CB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702C061-BA7C-0A36-0B61-16F69C1F2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740EFDA-EFF5-2EFE-51A5-12CB16C549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079E288-8D2B-336C-F455-0A60BB085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6826A58-F721-3313-1A1E-A2815BA319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74F7707-1B73-F7E5-6E86-FF6A9B9C1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F75EDDC-8184-CADE-0EDE-865589615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73698F8-BBFE-9F2F-0FE3-80107F615A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C7DB130-35F2-A325-6E4F-5E0018E24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DC930A-58D5-FBC5-A833-3FD66DD70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8" y="666352"/>
            <a:ext cx="10558405" cy="980142"/>
          </a:xfrm>
        </p:spPr>
        <p:txBody>
          <a:bodyPr anchor="b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Steps to take:-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BE0775-5BE2-B717-D92A-C091C7AE13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8" y="1864162"/>
            <a:ext cx="10558405" cy="4236387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STEP 1:- Preprocessing and analyzing data using </a:t>
            </a:r>
            <a:r>
              <a:rPr lang="en-US" dirty="0" err="1">
                <a:solidFill>
                  <a:schemeClr val="bg1"/>
                </a:solidFill>
              </a:rPr>
              <a:t>CropNet</a:t>
            </a:r>
            <a:r>
              <a:rPr lang="en-US" dirty="0">
                <a:solidFill>
                  <a:schemeClr val="bg1"/>
                </a:solidFill>
              </a:rPr>
              <a:t> dataset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STEP 2:- Baseline model training (Uni-modal CNN vs LSTM)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STEP 3:- Construction of the Multimodal Fusion layers and execution of the comparative experiments.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STEP 4:- Evaluation and stress testing</a:t>
            </a:r>
          </a:p>
        </p:txBody>
      </p:sp>
    </p:spTree>
    <p:extLst>
      <p:ext uri="{BB962C8B-B14F-4D97-AF65-F5344CB8AC3E}">
        <p14:creationId xmlns:p14="http://schemas.microsoft.com/office/powerpoint/2010/main" val="50202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248</Words>
  <Application>Microsoft Office PowerPoint</Application>
  <PresentationFormat>Widescreen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MSc AI Dissertation proposal  Sustainable Crop Yield prediction via Multi-modal AI</vt:lpstr>
      <vt:lpstr>Background :- raditional crop yield models often rely on a single data modality, failing to capture the complex relationship between spatial vegetation health and temporal weather patterns  Aims :- To design a robust AI framework that integrates heterogeneous data sources to improve the accuracy and reliability of agricultural forecasts. </vt:lpstr>
      <vt:lpstr>METHODOLOGY  Rationale :- Multimodal fusion allows for a more holistic understanding of the agricultural environment than single-stream models.</vt:lpstr>
      <vt:lpstr>Theoretical Deep Learning Framework</vt:lpstr>
      <vt:lpstr>Steps to take:-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Dipanjan Das</dc:creator>
  <cp:lastModifiedBy>Dipanjan Das</cp:lastModifiedBy>
  <cp:revision>1</cp:revision>
  <dcterms:created xsi:type="dcterms:W3CDTF">2026-02-05T16:38:16Z</dcterms:created>
  <dcterms:modified xsi:type="dcterms:W3CDTF">2026-02-05T17:45:59Z</dcterms:modified>
</cp:coreProperties>
</file>