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8" r:id="rId4"/>
    <p:sldId id="258" r:id="rId5"/>
    <p:sldId id="259" r:id="rId6"/>
    <p:sldId id="260" r:id="rId7"/>
    <p:sldId id="261" r:id="rId8"/>
    <p:sldId id="269" r:id="rId9"/>
    <p:sldId id="262" r:id="rId10"/>
    <p:sldId id="263" r:id="rId11"/>
    <p:sldId id="264" r:id="rId12"/>
    <p:sldId id="265" r:id="rId13"/>
    <p:sldId id="272" r:id="rId14"/>
    <p:sldId id="266"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snapToObjects="1">
      <p:cViewPr varScale="1">
        <p:scale>
          <a:sx n="75" d="100"/>
          <a:sy n="75" d="100"/>
        </p:scale>
        <p:origin x="826"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1906C4-B65E-40BC-BB0F-65AB159534B4}"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46B480-6635-49CA-A679-3BC494FA881F}" type="slidenum">
              <a:rPr lang="en-IN" smtClean="0"/>
              <a:t>‹#›</a:t>
            </a:fld>
            <a:endParaRPr lang="en-IN"/>
          </a:p>
        </p:txBody>
      </p:sp>
    </p:spTree>
    <p:extLst>
      <p:ext uri="{BB962C8B-B14F-4D97-AF65-F5344CB8AC3E}">
        <p14:creationId xmlns:p14="http://schemas.microsoft.com/office/powerpoint/2010/main" val="1181710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46B480-6635-49CA-A679-3BC494FA881F}" type="slidenum">
              <a:rPr lang="en-IN" smtClean="0"/>
              <a:t>11</a:t>
            </a:fld>
            <a:endParaRPr lang="en-IN"/>
          </a:p>
        </p:txBody>
      </p:sp>
    </p:spTree>
    <p:extLst>
      <p:ext uri="{BB962C8B-B14F-4D97-AF65-F5344CB8AC3E}">
        <p14:creationId xmlns:p14="http://schemas.microsoft.com/office/powerpoint/2010/main" val="2752002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595437" y="1316384"/>
            <a:ext cx="9001125" cy="2057400"/>
          </a:xfrm>
          <a:prstGeom prst="rect">
            <a:avLst/>
          </a:prstGeom>
          <a:noFill/>
        </p:spPr>
        <p:txBody>
          <a:bodyPr wrap="square" lIns="0" tIns="0" rIns="0" bIns="0" anchor="t">
            <a:spAutoFit/>
          </a:bodyPr>
          <a:lstStyle/>
          <a:p>
            <a:pPr algn="ctr">
              <a:lnSpc>
                <a:spcPts val="5400"/>
              </a:lnSpc>
            </a:pPr>
            <a:r>
              <a:rPr sz="4500" b="1" i="0" u="none" dirty="0">
                <a:solidFill>
                  <a:srgbClr val="10B981"/>
                </a:solidFill>
                <a:latin typeface="Poppins"/>
              </a:rPr>
              <a:t>Sustainable Crop Yield Prediction via Multi-modal AI</a:t>
            </a:r>
          </a:p>
        </p:txBody>
      </p:sp>
      <p:sp>
        <p:nvSpPr>
          <p:cNvPr id="4" name="TextBox 3"/>
          <p:cNvSpPr txBox="1"/>
          <p:nvPr/>
        </p:nvSpPr>
        <p:spPr>
          <a:xfrm>
            <a:off x="1809750" y="3564284"/>
            <a:ext cx="8572500" cy="396180"/>
          </a:xfrm>
          <a:prstGeom prst="rect">
            <a:avLst/>
          </a:prstGeom>
          <a:noFill/>
        </p:spPr>
        <p:txBody>
          <a:bodyPr wrap="square" lIns="0" tIns="0" rIns="0" bIns="0" anchor="t">
            <a:spAutoFit/>
          </a:bodyPr>
          <a:lstStyle/>
          <a:p>
            <a:pPr algn="ctr">
              <a:lnSpc>
                <a:spcPts val="3120"/>
              </a:lnSpc>
            </a:pPr>
            <a:r>
              <a:rPr sz="1950" b="0" i="1" u="none" dirty="0">
                <a:solidFill>
                  <a:srgbClr val="0284C7"/>
                </a:solidFill>
                <a:latin typeface="Lato"/>
              </a:rPr>
              <a:t>Robustness under Modality Degradation</a:t>
            </a:r>
          </a:p>
        </p:txBody>
      </p:sp>
      <p:sp>
        <p:nvSpPr>
          <p:cNvPr id="5" name="TextBox 4"/>
          <p:cNvSpPr txBox="1"/>
          <p:nvPr/>
        </p:nvSpPr>
        <p:spPr>
          <a:xfrm>
            <a:off x="1809750" y="4341465"/>
            <a:ext cx="8572500" cy="271806"/>
          </a:xfrm>
          <a:prstGeom prst="rect">
            <a:avLst/>
          </a:prstGeom>
          <a:noFill/>
        </p:spPr>
        <p:txBody>
          <a:bodyPr wrap="square" lIns="0" tIns="0" rIns="0" bIns="0" anchor="t">
            <a:spAutoFit/>
          </a:bodyPr>
          <a:lstStyle/>
          <a:p>
            <a:pPr algn="ctr">
              <a:lnSpc>
                <a:spcPts val="2400"/>
              </a:lnSpc>
            </a:pPr>
            <a:r>
              <a:rPr sz="1500" b="1" i="0" u="none" dirty="0">
                <a:solidFill>
                  <a:srgbClr val="475569"/>
                </a:solidFill>
                <a:latin typeface="Lato"/>
              </a:rPr>
              <a:t>MSc Dissertation Project </a:t>
            </a:r>
            <a:r>
              <a:rPr lang="en-IN" sz="1500" b="1" i="0" u="none" dirty="0">
                <a:solidFill>
                  <a:srgbClr val="475569"/>
                </a:solidFill>
                <a:latin typeface="Lato"/>
              </a:rPr>
              <a:t>Presentation</a:t>
            </a:r>
            <a:endParaRPr sz="1500" b="1" i="0" u="none" dirty="0">
              <a:solidFill>
                <a:srgbClr val="475569"/>
              </a:solidFill>
              <a:latin typeface="Lato"/>
            </a:endParaRPr>
          </a:p>
        </p:txBody>
      </p:sp>
      <p:sp>
        <p:nvSpPr>
          <p:cNvPr id="6" name="TextBox 5"/>
          <p:cNvSpPr txBox="1"/>
          <p:nvPr/>
        </p:nvSpPr>
        <p:spPr>
          <a:xfrm>
            <a:off x="1809750" y="4789140"/>
            <a:ext cx="8572500" cy="579582"/>
          </a:xfrm>
          <a:prstGeom prst="rect">
            <a:avLst/>
          </a:prstGeom>
          <a:noFill/>
        </p:spPr>
        <p:txBody>
          <a:bodyPr wrap="square" lIns="0" tIns="0" rIns="0" bIns="0" anchor="t">
            <a:spAutoFit/>
          </a:bodyPr>
          <a:lstStyle/>
          <a:p>
            <a:pPr algn="ctr">
              <a:lnSpc>
                <a:spcPts val="2400"/>
              </a:lnSpc>
            </a:pPr>
            <a:r>
              <a:rPr lang="en-US" sz="1500" b="0" i="0" u="none" dirty="0">
                <a:solidFill>
                  <a:srgbClr val="475569"/>
                </a:solidFill>
                <a:latin typeface="Lato"/>
              </a:rPr>
              <a:t>Student ID - </a:t>
            </a:r>
            <a:r>
              <a:rPr sz="1500" b="0" i="0" u="none" dirty="0">
                <a:solidFill>
                  <a:srgbClr val="475569"/>
                </a:solidFill>
                <a:latin typeface="Lato"/>
              </a:rPr>
              <a:t>202441750</a:t>
            </a:r>
            <a:r>
              <a:rPr dirty="0"/>
              <a:t>
</a:t>
            </a:r>
            <a:r>
              <a:rPr sz="1500" b="0" i="0" u="none" dirty="0">
                <a:solidFill>
                  <a:srgbClr val="475569"/>
                </a:solidFill>
                <a:latin typeface="Lato"/>
              </a:rPr>
              <a:t> MSc Artificial Intelligence, University of Hull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5550693" cy="552450"/>
          </a:xfrm>
          <a:prstGeom prst="rect">
            <a:avLst/>
          </a:prstGeom>
          <a:noFill/>
        </p:spPr>
        <p:txBody>
          <a:bodyPr wrap="square" lIns="0" tIns="0" rIns="0" bIns="0" anchor="t">
            <a:spAutoFit/>
          </a:bodyPr>
          <a:lstStyle/>
          <a:p>
            <a:pPr algn="l"/>
            <a:r>
              <a:rPr sz="2700" b="1" i="0" u="none">
                <a:solidFill>
                  <a:srgbClr val="0F172A"/>
                </a:solidFill>
                <a:latin typeface="Poppins"/>
              </a:rPr>
              <a:t>Context &amp; Problem</a:t>
            </a:r>
          </a:p>
        </p:txBody>
      </p:sp>
      <p:sp>
        <p:nvSpPr>
          <p:cNvPr id="4" name="Rectangle 3"/>
          <p:cNvSpPr/>
          <p:nvPr/>
        </p:nvSpPr>
        <p:spPr>
          <a:xfrm>
            <a:off x="571500" y="1190625"/>
            <a:ext cx="5286375"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6334125" y="0"/>
            <a:ext cx="5857875" cy="6858000"/>
          </a:xfrm>
          <a:prstGeom prst="rect">
            <a:avLst/>
          </a:prstGeom>
        </p:spPr>
      </p:pic>
      <p:sp>
        <p:nvSpPr>
          <p:cNvPr id="6" name="TextBox 5"/>
          <p:cNvSpPr txBox="1"/>
          <p:nvPr/>
        </p:nvSpPr>
        <p:spPr>
          <a:xfrm>
            <a:off x="571500" y="1600200"/>
            <a:ext cx="5550693" cy="400050"/>
          </a:xfrm>
          <a:prstGeom prst="rect">
            <a:avLst/>
          </a:prstGeom>
          <a:noFill/>
        </p:spPr>
        <p:txBody>
          <a:bodyPr wrap="square" lIns="0" tIns="0" rIns="0" bIns="0" anchor="t">
            <a:spAutoFit/>
          </a:bodyPr>
          <a:lstStyle/>
          <a:p>
            <a:pPr algn="l"/>
            <a:r>
              <a:rPr sz="2100" b="1" i="0" u="none">
                <a:solidFill>
                  <a:srgbClr val="0284C7"/>
                </a:solidFill>
                <a:latin typeface="Poppins"/>
              </a:rPr>
              <a:t>Reliance on Earth Observation</a:t>
            </a:r>
          </a:p>
        </p:txBody>
      </p:sp>
      <p:sp>
        <p:nvSpPr>
          <p:cNvPr id="7" name="TextBox 6"/>
          <p:cNvSpPr txBox="1"/>
          <p:nvPr/>
        </p:nvSpPr>
        <p:spPr>
          <a:xfrm>
            <a:off x="571500" y="2143125"/>
            <a:ext cx="5286375" cy="914400"/>
          </a:xfrm>
          <a:prstGeom prst="rect">
            <a:avLst/>
          </a:prstGeom>
          <a:noFill/>
        </p:spPr>
        <p:txBody>
          <a:bodyPr wrap="square" lIns="0" tIns="0" rIns="0" bIns="0" anchor="t">
            <a:spAutoFit/>
          </a:bodyPr>
          <a:lstStyle/>
          <a:p>
            <a:pPr algn="l">
              <a:lnSpc>
                <a:spcPts val="2400"/>
              </a:lnSpc>
            </a:pPr>
            <a:r>
              <a:rPr sz="1500" b="0" i="0" u="none" dirty="0">
                <a:solidFill>
                  <a:srgbClr val="475569"/>
                </a:solidFill>
                <a:latin typeface="Lato"/>
              </a:rPr>
              <a:t>Modern Agricultural AI depends on multimodal Earth Observation data to forecast yields. This typically includes meteorological tensors and optical satellite imagery.</a:t>
            </a:r>
          </a:p>
        </p:txBody>
      </p:sp>
      <p:sp>
        <p:nvSpPr>
          <p:cNvPr id="8" name="TextBox 7"/>
          <p:cNvSpPr txBox="1"/>
          <p:nvPr/>
        </p:nvSpPr>
        <p:spPr>
          <a:xfrm>
            <a:off x="571500" y="3200400"/>
            <a:ext cx="5286375" cy="1219200"/>
          </a:xfrm>
          <a:prstGeom prst="rect">
            <a:avLst/>
          </a:prstGeom>
          <a:noFill/>
        </p:spPr>
        <p:txBody>
          <a:bodyPr wrap="square" lIns="0" tIns="0" rIns="0" bIns="0" anchor="t">
            <a:spAutoFit/>
          </a:bodyPr>
          <a:lstStyle/>
          <a:p>
            <a:pPr algn="l">
              <a:lnSpc>
                <a:spcPts val="2400"/>
              </a:lnSpc>
            </a:pPr>
            <a:r>
              <a:rPr sz="1500" b="0" i="0" u="none" dirty="0">
                <a:solidFill>
                  <a:srgbClr val="475569"/>
                </a:solidFill>
                <a:latin typeface="Lato"/>
              </a:rPr>
              <a:t>However, the real-world operational environment is volatile. Optical sensors are notoriously susceptible to noise, creating a profound gap between theoretical model accuracy and operational reliability.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1508670"/>
            <a:ext cx="5372100" cy="2241202"/>
          </a:xfrm>
          <a:prstGeom prst="rect">
            <a:avLst/>
          </a:prstGeom>
        </p:spPr>
      </p:pic>
      <p:pic>
        <p:nvPicPr>
          <p:cNvPr id="4" name="Picture 3" descr="image.png"/>
          <p:cNvPicPr>
            <a:picLocks noChangeAspect="1"/>
          </p:cNvPicPr>
          <p:nvPr/>
        </p:nvPicPr>
        <p:blipFill>
          <a:blip r:embed="rId4"/>
          <a:stretch>
            <a:fillRect/>
          </a:stretch>
        </p:blipFill>
        <p:spPr>
          <a:xfrm>
            <a:off x="6238875" y="1508670"/>
            <a:ext cx="5372100" cy="2241202"/>
          </a:xfrm>
          <a:prstGeom prst="rect">
            <a:avLst/>
          </a:prstGeom>
        </p:spPr>
      </p:pic>
      <p:pic>
        <p:nvPicPr>
          <p:cNvPr id="5" name="Picture 4" descr="image.png"/>
          <p:cNvPicPr>
            <a:picLocks noChangeAspect="1"/>
          </p:cNvPicPr>
          <p:nvPr/>
        </p:nvPicPr>
        <p:blipFill>
          <a:blip r:embed="rId5"/>
          <a:stretch>
            <a:fillRect/>
          </a:stretch>
        </p:blipFill>
        <p:spPr>
          <a:xfrm>
            <a:off x="581025" y="4035623"/>
            <a:ext cx="5372100" cy="2241351"/>
          </a:xfrm>
          <a:prstGeom prst="rect">
            <a:avLst/>
          </a:prstGeom>
        </p:spPr>
      </p:pic>
      <p:pic>
        <p:nvPicPr>
          <p:cNvPr id="6" name="Picture 5" descr="image.png"/>
          <p:cNvPicPr>
            <a:picLocks noChangeAspect="1"/>
          </p:cNvPicPr>
          <p:nvPr/>
        </p:nvPicPr>
        <p:blipFill>
          <a:blip r:embed="rId6"/>
          <a:stretch>
            <a:fillRect/>
          </a:stretch>
        </p:blipFill>
        <p:spPr>
          <a:xfrm>
            <a:off x="6238875" y="4035623"/>
            <a:ext cx="5372100" cy="2241351"/>
          </a:xfrm>
          <a:prstGeom prst="rect">
            <a:avLst/>
          </a:prstGeom>
        </p:spPr>
      </p:pic>
      <p:sp>
        <p:nvSpPr>
          <p:cNvPr id="7" name="TextBox 6"/>
          <p:cNvSpPr txBox="1"/>
          <p:nvPr/>
        </p:nvSpPr>
        <p:spPr>
          <a:xfrm>
            <a:off x="876300" y="1803945"/>
            <a:ext cx="5020627" cy="274290"/>
          </a:xfrm>
          <a:prstGeom prst="rect">
            <a:avLst/>
          </a:prstGeom>
          <a:noFill/>
        </p:spPr>
        <p:txBody>
          <a:bodyPr wrap="square" lIns="319385" tIns="0" rIns="0" bIns="0" anchor="t">
            <a:spAutoFit/>
          </a:bodyPr>
          <a:lstStyle/>
          <a:p>
            <a:pPr algn="l">
              <a:lnSpc>
                <a:spcPts val="2160"/>
              </a:lnSpc>
            </a:pPr>
            <a:r>
              <a:rPr sz="1800" b="0" i="0" u="none">
                <a:solidFill>
                  <a:srgbClr val="10B981"/>
                </a:solidFill>
                <a:latin typeface="Inter SemiBold"/>
              </a:rPr>
              <a:t>Global Food Security</a:t>
            </a:r>
          </a:p>
        </p:txBody>
      </p:sp>
      <p:sp>
        <p:nvSpPr>
          <p:cNvPr id="8" name="TextBox 7"/>
          <p:cNvSpPr txBox="1"/>
          <p:nvPr/>
        </p:nvSpPr>
        <p:spPr>
          <a:xfrm>
            <a:off x="876300" y="2192535"/>
            <a:ext cx="4781550" cy="822870"/>
          </a:xfrm>
          <a:prstGeom prst="rect">
            <a:avLst/>
          </a:prstGeom>
          <a:noFill/>
        </p:spPr>
        <p:txBody>
          <a:bodyPr wrap="square" lIns="0" tIns="0" rIns="0" bIns="0" anchor="t">
            <a:spAutoFit/>
          </a:bodyPr>
          <a:lstStyle/>
          <a:p>
            <a:pPr algn="l">
              <a:lnSpc>
                <a:spcPts val="2160"/>
              </a:lnSpc>
            </a:pPr>
            <a:r>
              <a:rPr sz="1350" b="0" i="0" u="none" dirty="0">
                <a:solidFill>
                  <a:srgbClr val="334155"/>
                </a:solidFill>
                <a:latin typeface="Inter"/>
              </a:rPr>
              <a:t>Predicting harvests ensures stable food supply chains in an increasingly volatile world, preventing regional shortages.</a:t>
            </a:r>
          </a:p>
        </p:txBody>
      </p:sp>
      <p:sp>
        <p:nvSpPr>
          <p:cNvPr id="9" name="TextBox 8"/>
          <p:cNvSpPr txBox="1"/>
          <p:nvPr/>
        </p:nvSpPr>
        <p:spPr>
          <a:xfrm>
            <a:off x="6534150" y="1803945"/>
            <a:ext cx="5020627" cy="274290"/>
          </a:xfrm>
          <a:prstGeom prst="rect">
            <a:avLst/>
          </a:prstGeom>
          <a:noFill/>
        </p:spPr>
        <p:txBody>
          <a:bodyPr wrap="square" lIns="347960" tIns="0" rIns="0" bIns="0" anchor="t">
            <a:spAutoFit/>
          </a:bodyPr>
          <a:lstStyle/>
          <a:p>
            <a:pPr algn="l">
              <a:lnSpc>
                <a:spcPts val="2160"/>
              </a:lnSpc>
            </a:pPr>
            <a:r>
              <a:rPr sz="1800" b="0" i="0" u="none">
                <a:solidFill>
                  <a:srgbClr val="2563EB"/>
                </a:solidFill>
                <a:latin typeface="Inter SemiBold"/>
              </a:rPr>
              <a:t>Climate Adaptation</a:t>
            </a:r>
          </a:p>
        </p:txBody>
      </p:sp>
      <p:sp>
        <p:nvSpPr>
          <p:cNvPr id="10" name="TextBox 9"/>
          <p:cNvSpPr txBox="1"/>
          <p:nvPr/>
        </p:nvSpPr>
        <p:spPr>
          <a:xfrm>
            <a:off x="6534150" y="2192535"/>
            <a:ext cx="47815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Responding intelligently to unprecedented environmental volatility and extreme weather events.</a:t>
            </a:r>
          </a:p>
        </p:txBody>
      </p:sp>
      <p:sp>
        <p:nvSpPr>
          <p:cNvPr id="11" name="TextBox 10"/>
          <p:cNvSpPr txBox="1"/>
          <p:nvPr/>
        </p:nvSpPr>
        <p:spPr>
          <a:xfrm>
            <a:off x="876300" y="4330898"/>
            <a:ext cx="5020627" cy="274290"/>
          </a:xfrm>
          <a:prstGeom prst="rect">
            <a:avLst/>
          </a:prstGeom>
          <a:noFill/>
        </p:spPr>
        <p:txBody>
          <a:bodyPr wrap="square" lIns="319385" tIns="0" rIns="0" bIns="0" anchor="t">
            <a:spAutoFit/>
          </a:bodyPr>
          <a:lstStyle/>
          <a:p>
            <a:pPr algn="l">
              <a:lnSpc>
                <a:spcPts val="2160"/>
              </a:lnSpc>
            </a:pPr>
            <a:r>
              <a:rPr sz="1800" b="0" i="0" u="none">
                <a:solidFill>
                  <a:srgbClr val="F59E0B"/>
                </a:solidFill>
                <a:latin typeface="Inter SemiBold"/>
              </a:rPr>
              <a:t>Agricultural Sustainability</a:t>
            </a:r>
          </a:p>
        </p:txBody>
      </p:sp>
      <p:sp>
        <p:nvSpPr>
          <p:cNvPr id="12" name="TextBox 11"/>
          <p:cNvSpPr txBox="1"/>
          <p:nvPr/>
        </p:nvSpPr>
        <p:spPr>
          <a:xfrm>
            <a:off x="876300" y="4719488"/>
            <a:ext cx="47815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Optimizing precise resource allocation (water, fertilizer, labor) to minimize ecological footprint.</a:t>
            </a:r>
          </a:p>
        </p:txBody>
      </p:sp>
      <p:sp>
        <p:nvSpPr>
          <p:cNvPr id="13" name="TextBox 12"/>
          <p:cNvSpPr txBox="1"/>
          <p:nvPr/>
        </p:nvSpPr>
        <p:spPr>
          <a:xfrm>
            <a:off x="6534150" y="4330898"/>
            <a:ext cx="5020627" cy="274290"/>
          </a:xfrm>
          <a:prstGeom prst="rect">
            <a:avLst/>
          </a:prstGeom>
          <a:noFill/>
        </p:spPr>
        <p:txBody>
          <a:bodyPr wrap="square" lIns="319385" tIns="0" rIns="0" bIns="0" anchor="t">
            <a:spAutoFit/>
          </a:bodyPr>
          <a:lstStyle/>
          <a:p>
            <a:pPr algn="l">
              <a:lnSpc>
                <a:spcPts val="2160"/>
              </a:lnSpc>
            </a:pPr>
            <a:r>
              <a:rPr sz="1800" b="0" i="0" u="none">
                <a:solidFill>
                  <a:srgbClr val="8B5CF6"/>
                </a:solidFill>
                <a:latin typeface="Inter SemiBold"/>
              </a:rPr>
              <a:t>Macroeconomic Planning</a:t>
            </a:r>
          </a:p>
        </p:txBody>
      </p:sp>
      <p:sp>
        <p:nvSpPr>
          <p:cNvPr id="14" name="TextBox 13"/>
          <p:cNvSpPr txBox="1"/>
          <p:nvPr/>
        </p:nvSpPr>
        <p:spPr>
          <a:xfrm>
            <a:off x="6534150" y="4719488"/>
            <a:ext cx="47815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Informing commodity markets, crop insurance underwriting, and proactive government policy.</a:t>
            </a:r>
          </a:p>
        </p:txBody>
      </p:sp>
      <p:pic>
        <p:nvPicPr>
          <p:cNvPr id="15" name="Picture 14" descr="image.png"/>
          <p:cNvPicPr>
            <a:picLocks noChangeAspect="1"/>
          </p:cNvPicPr>
          <p:nvPr/>
        </p:nvPicPr>
        <p:blipFill>
          <a:blip r:embed="rId7"/>
          <a:stretch>
            <a:fillRect/>
          </a:stretch>
        </p:blipFill>
        <p:spPr>
          <a:xfrm>
            <a:off x="876300" y="1813470"/>
            <a:ext cx="224135" cy="228600"/>
          </a:xfrm>
          <a:prstGeom prst="rect">
            <a:avLst/>
          </a:prstGeom>
        </p:spPr>
      </p:pic>
      <p:pic>
        <p:nvPicPr>
          <p:cNvPr id="16" name="Picture 15" descr="image.png"/>
          <p:cNvPicPr>
            <a:picLocks noChangeAspect="1"/>
          </p:cNvPicPr>
          <p:nvPr/>
        </p:nvPicPr>
        <p:blipFill>
          <a:blip r:embed="rId8"/>
          <a:stretch>
            <a:fillRect/>
          </a:stretch>
        </p:blipFill>
        <p:spPr>
          <a:xfrm>
            <a:off x="6534150" y="1813470"/>
            <a:ext cx="252710" cy="228600"/>
          </a:xfrm>
          <a:prstGeom prst="rect">
            <a:avLst/>
          </a:prstGeom>
        </p:spPr>
      </p:pic>
      <p:pic>
        <p:nvPicPr>
          <p:cNvPr id="17" name="Picture 16" descr="image.png"/>
          <p:cNvPicPr>
            <a:picLocks noChangeAspect="1"/>
          </p:cNvPicPr>
          <p:nvPr/>
        </p:nvPicPr>
        <p:blipFill>
          <a:blip r:embed="rId9"/>
          <a:stretch>
            <a:fillRect/>
          </a:stretch>
        </p:blipFill>
        <p:spPr>
          <a:xfrm>
            <a:off x="876300" y="4340423"/>
            <a:ext cx="224135" cy="228600"/>
          </a:xfrm>
          <a:prstGeom prst="rect">
            <a:avLst/>
          </a:prstGeom>
        </p:spPr>
      </p:pic>
      <p:pic>
        <p:nvPicPr>
          <p:cNvPr id="18" name="Picture 17" descr="image.png"/>
          <p:cNvPicPr>
            <a:picLocks noChangeAspect="1"/>
          </p:cNvPicPr>
          <p:nvPr/>
        </p:nvPicPr>
        <p:blipFill>
          <a:blip r:embed="rId10"/>
          <a:stretch>
            <a:fillRect/>
          </a:stretch>
        </p:blipFill>
        <p:spPr>
          <a:xfrm>
            <a:off x="6534150" y="4340423"/>
            <a:ext cx="224135" cy="228600"/>
          </a:xfrm>
          <a:prstGeom prst="rect">
            <a:avLst/>
          </a:prstGeom>
        </p:spPr>
      </p:pic>
      <p:sp>
        <p:nvSpPr>
          <p:cNvPr id="19" name="TextBox 18"/>
          <p:cNvSpPr txBox="1"/>
          <p:nvPr/>
        </p:nvSpPr>
        <p:spPr>
          <a:xfrm>
            <a:off x="581025" y="581025"/>
            <a:ext cx="11581447" cy="472117"/>
          </a:xfrm>
          <a:prstGeom prst="rect">
            <a:avLst/>
          </a:prstGeom>
          <a:noFill/>
        </p:spPr>
        <p:txBody>
          <a:bodyPr wrap="square" lIns="0" tIns="0" rIns="0" bIns="0" anchor="t">
            <a:spAutoFit/>
          </a:bodyPr>
          <a:lstStyle/>
          <a:p>
            <a:pPr algn="l">
              <a:lnSpc>
                <a:spcPts val="3779"/>
              </a:lnSpc>
            </a:pPr>
            <a:r>
              <a:rPr sz="3150" b="1" i="0" u="none" dirty="0">
                <a:solidFill>
                  <a:srgbClr val="2563EB"/>
                </a:solidFill>
                <a:latin typeface="Inter"/>
              </a:rPr>
              <a:t>Why This Matters</a:t>
            </a:r>
          </a:p>
        </p:txBody>
      </p:sp>
      <p:sp>
        <p:nvSpPr>
          <p:cNvPr id="20" name="Rectangle 19"/>
          <p:cNvSpPr/>
          <p:nvPr/>
        </p:nvSpPr>
        <p:spPr>
          <a:xfrm>
            <a:off x="581025" y="1203870"/>
            <a:ext cx="1102995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2300287"/>
            <a:ext cx="5286375" cy="3333750"/>
          </a:xfrm>
          <a:prstGeom prst="rect">
            <a:avLst/>
          </a:prstGeom>
        </p:spPr>
      </p:pic>
      <p:sp>
        <p:nvSpPr>
          <p:cNvPr id="4" name="TextBox 3"/>
          <p:cNvSpPr txBox="1"/>
          <p:nvPr/>
        </p:nvSpPr>
        <p:spPr>
          <a:xfrm>
            <a:off x="695325" y="2300287"/>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5" name="TextBox 4"/>
          <p:cNvSpPr txBox="1"/>
          <p:nvPr/>
        </p:nvSpPr>
        <p:spPr>
          <a:xfrm>
            <a:off x="809625" y="2300287"/>
            <a:ext cx="5048250" cy="914400"/>
          </a:xfrm>
          <a:prstGeom prst="rect">
            <a:avLst/>
          </a:prstGeom>
          <a:noFill/>
        </p:spPr>
        <p:txBody>
          <a:bodyPr wrap="square" lIns="114300" tIns="0" rIns="0" bIns="0" anchor="t">
            <a:spAutoFit/>
          </a:bodyPr>
          <a:lstStyle/>
          <a:p>
            <a:pPr algn="l">
              <a:lnSpc>
                <a:spcPts val="2400"/>
              </a:lnSpc>
            </a:pPr>
            <a:r>
              <a:rPr sz="1500" b="1" i="0" u="none">
                <a:solidFill>
                  <a:srgbClr val="475569"/>
                </a:solidFill>
                <a:latin typeface="Lato"/>
              </a:rPr>
              <a:t>Optical Satellites (Sentinel-2):</a:t>
            </a:r>
            <a:r>
              <a:rPr sz="1500" b="0" i="0" u="none">
                <a:solidFill>
                  <a:srgbClr val="475569"/>
                </a:solidFill>
                <a:latin typeface="Lato"/>
              </a:rPr>
              <a:t> Frequently obstructed by dense cloud cover or atmospheric scattering, rendering spatial matrices useless.</a:t>
            </a:r>
          </a:p>
        </p:txBody>
      </p:sp>
      <p:sp>
        <p:nvSpPr>
          <p:cNvPr id="6" name="TextBox 5"/>
          <p:cNvSpPr txBox="1"/>
          <p:nvPr/>
        </p:nvSpPr>
        <p:spPr>
          <a:xfrm>
            <a:off x="695325" y="3357562"/>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7" name="TextBox 6"/>
          <p:cNvSpPr txBox="1"/>
          <p:nvPr/>
        </p:nvSpPr>
        <p:spPr>
          <a:xfrm>
            <a:off x="809625" y="3357562"/>
            <a:ext cx="5048250" cy="914400"/>
          </a:xfrm>
          <a:prstGeom prst="rect">
            <a:avLst/>
          </a:prstGeom>
          <a:noFill/>
        </p:spPr>
        <p:txBody>
          <a:bodyPr wrap="square" lIns="114300" tIns="0" rIns="0" bIns="0" anchor="t">
            <a:spAutoFit/>
          </a:bodyPr>
          <a:lstStyle/>
          <a:p>
            <a:pPr algn="l">
              <a:lnSpc>
                <a:spcPts val="2400"/>
              </a:lnSpc>
            </a:pPr>
            <a:r>
              <a:rPr sz="1500" b="1" i="0" u="none">
                <a:solidFill>
                  <a:srgbClr val="475569"/>
                </a:solidFill>
                <a:latin typeface="Lato"/>
              </a:rPr>
              <a:t>Meteorological Models (HRRR):</a:t>
            </a:r>
            <a:r>
              <a:rPr sz="1500" b="0" i="0" u="none">
                <a:solidFill>
                  <a:srgbClr val="475569"/>
                </a:solidFill>
                <a:latin typeface="Lato"/>
              </a:rPr>
              <a:t> Provide continuous temporal data but lack the fine spatial granularity to capture localized crop stress.</a:t>
            </a:r>
          </a:p>
        </p:txBody>
      </p:sp>
      <p:sp>
        <p:nvSpPr>
          <p:cNvPr id="8" name="TextBox 7"/>
          <p:cNvSpPr txBox="1"/>
          <p:nvPr/>
        </p:nvSpPr>
        <p:spPr>
          <a:xfrm>
            <a:off x="695325" y="4414837"/>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9" name="TextBox 8"/>
          <p:cNvSpPr txBox="1"/>
          <p:nvPr/>
        </p:nvSpPr>
        <p:spPr>
          <a:xfrm>
            <a:off x="809625" y="4414837"/>
            <a:ext cx="5048250" cy="914400"/>
          </a:xfrm>
          <a:prstGeom prst="rect">
            <a:avLst/>
          </a:prstGeom>
          <a:noFill/>
        </p:spPr>
        <p:txBody>
          <a:bodyPr wrap="square" lIns="114300" tIns="0" rIns="0" bIns="0" anchor="t">
            <a:spAutoFit/>
          </a:bodyPr>
          <a:lstStyle/>
          <a:p>
            <a:pPr algn="l">
              <a:lnSpc>
                <a:spcPts val="2400"/>
              </a:lnSpc>
            </a:pPr>
            <a:r>
              <a:rPr sz="1500" b="1" i="0" u="none">
                <a:solidFill>
                  <a:srgbClr val="475569"/>
                </a:solidFill>
                <a:latin typeface="Lato"/>
              </a:rPr>
              <a:t>Standard Fusion Failure:</a:t>
            </a:r>
            <a:r>
              <a:rPr sz="1500" b="0" i="0" u="none">
                <a:solidFill>
                  <a:srgbClr val="475569"/>
                </a:solidFill>
                <a:latin typeface="Lato"/>
              </a:rPr>
              <a:t> Traditional Deep Learning models process modalities rigidly. When forced to digest noise from clouded imagery, predictions collapse catastrophically.</a:t>
            </a:r>
          </a:p>
        </p:txBody>
      </p:sp>
      <p:pic>
        <p:nvPicPr>
          <p:cNvPr id="10" name="Picture 9" descr="image.png"/>
          <p:cNvPicPr>
            <a:picLocks noChangeAspect="1"/>
          </p:cNvPicPr>
          <p:nvPr/>
        </p:nvPicPr>
        <p:blipFill>
          <a:blip r:embed="rId4"/>
          <a:stretch>
            <a:fillRect/>
          </a:stretch>
        </p:blipFill>
        <p:spPr>
          <a:xfrm>
            <a:off x="6334125" y="2300287"/>
            <a:ext cx="5286375" cy="3333750"/>
          </a:xfrm>
          <a:prstGeom prst="rect">
            <a:avLst/>
          </a:prstGeom>
        </p:spPr>
      </p:pic>
      <p:sp>
        <p:nvSpPr>
          <p:cNvPr id="11" name="TextBox 10"/>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The Challenge: Modality Degradation</a:t>
            </a:r>
          </a:p>
        </p:txBody>
      </p:sp>
      <p:sp>
        <p:nvSpPr>
          <p:cNvPr id="12" name="Rectangle 11"/>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895475"/>
            <a:ext cx="5286375" cy="4143375"/>
          </a:xfrm>
          <a:prstGeom prst="rect">
            <a:avLst/>
          </a:prstGeom>
        </p:spPr>
      </p:pic>
      <p:pic>
        <p:nvPicPr>
          <p:cNvPr id="4" name="Picture 3" descr="image.png"/>
          <p:cNvPicPr>
            <a:picLocks noChangeAspect="1"/>
          </p:cNvPicPr>
          <p:nvPr/>
        </p:nvPicPr>
        <p:blipFill>
          <a:blip r:embed="rId4"/>
          <a:stretch>
            <a:fillRect/>
          </a:stretch>
        </p:blipFill>
        <p:spPr>
          <a:xfrm>
            <a:off x="6334125" y="1895475"/>
            <a:ext cx="5286375" cy="4143375"/>
          </a:xfrm>
          <a:prstGeom prst="rect">
            <a:avLst/>
          </a:prstGeom>
        </p:spPr>
      </p:pic>
      <p:sp>
        <p:nvSpPr>
          <p:cNvPr id="5" name="TextBox 4"/>
          <p:cNvSpPr txBox="1"/>
          <p:nvPr/>
        </p:nvSpPr>
        <p:spPr>
          <a:xfrm>
            <a:off x="962025" y="2286000"/>
            <a:ext cx="4730591" cy="400050"/>
          </a:xfrm>
          <a:prstGeom prst="rect">
            <a:avLst/>
          </a:prstGeom>
          <a:noFill/>
        </p:spPr>
        <p:txBody>
          <a:bodyPr wrap="square" lIns="0" tIns="0" rIns="0" bIns="0" anchor="t">
            <a:spAutoFit/>
          </a:bodyPr>
          <a:lstStyle/>
          <a:p>
            <a:pPr algn="l"/>
            <a:r>
              <a:rPr sz="2100" b="1" i="0" u="none">
                <a:solidFill>
                  <a:srgbClr val="0284C7"/>
                </a:solidFill>
                <a:latin typeface="Poppins"/>
              </a:rPr>
              <a:t>1. Rejected Baselines</a:t>
            </a:r>
          </a:p>
        </p:txBody>
      </p:sp>
      <p:sp>
        <p:nvSpPr>
          <p:cNvPr id="6" name="TextBox 5"/>
          <p:cNvSpPr txBox="1"/>
          <p:nvPr/>
        </p:nvSpPr>
        <p:spPr>
          <a:xfrm>
            <a:off x="962025" y="2828925"/>
            <a:ext cx="4505325" cy="609600"/>
          </a:xfrm>
          <a:prstGeom prst="rect">
            <a:avLst/>
          </a:prstGeom>
          <a:noFill/>
        </p:spPr>
        <p:txBody>
          <a:bodyPr wrap="square" lIns="0" tIns="0" rIns="0" bIns="0" anchor="t">
            <a:spAutoFit/>
          </a:bodyPr>
          <a:lstStyle/>
          <a:p>
            <a:pPr algn="l">
              <a:lnSpc>
                <a:spcPts val="2400"/>
              </a:lnSpc>
            </a:pPr>
            <a:r>
              <a:rPr sz="1500" b="1" i="0" u="none">
                <a:solidFill>
                  <a:srgbClr val="475569"/>
                </a:solidFill>
                <a:latin typeface="Lato"/>
              </a:rPr>
              <a:t>Unimodal Models:</a:t>
            </a:r>
            <a:r>
              <a:rPr sz="1500" b="0" i="0" u="none">
                <a:solidFill>
                  <a:srgbClr val="475569"/>
                </a:solidFill>
                <a:latin typeface="Lato"/>
              </a:rPr>
              <a:t> Using only CNNs for images or LSTMs for weather ignores vital contextual synergies.</a:t>
            </a:r>
          </a:p>
        </p:txBody>
      </p:sp>
      <p:sp>
        <p:nvSpPr>
          <p:cNvPr id="7" name="TextBox 6"/>
          <p:cNvSpPr txBox="1"/>
          <p:nvPr/>
        </p:nvSpPr>
        <p:spPr>
          <a:xfrm>
            <a:off x="962025" y="3581400"/>
            <a:ext cx="4505325" cy="1828800"/>
          </a:xfrm>
          <a:prstGeom prst="rect">
            <a:avLst/>
          </a:prstGeom>
          <a:noFill/>
        </p:spPr>
        <p:txBody>
          <a:bodyPr wrap="square" lIns="0" tIns="0" rIns="0" bIns="0" anchor="t">
            <a:spAutoFit/>
          </a:bodyPr>
          <a:lstStyle/>
          <a:p>
            <a:pPr algn="l">
              <a:lnSpc>
                <a:spcPts val="2400"/>
              </a:lnSpc>
            </a:pPr>
            <a:r>
              <a:rPr sz="1500" b="1" i="0" u="none" dirty="0">
                <a:solidFill>
                  <a:srgbClr val="475569"/>
                </a:solidFill>
                <a:latin typeface="Lato"/>
              </a:rPr>
              <a:t>Static Fusion (Early/Late):</a:t>
            </a:r>
            <a:r>
              <a:rPr sz="1500" b="0" i="0" u="none" dirty="0">
                <a:solidFill>
                  <a:srgbClr val="475569"/>
                </a:solidFill>
                <a:latin typeface="Lato"/>
              </a:rPr>
              <a:t> Early concatenation forces the network to learn unified representations from disparate temporal resolutions. Late α-blending statically averages outputs, failing instantly if one stream (e.g., satellite) outputs garbage data due to clouds.</a:t>
            </a:r>
          </a:p>
        </p:txBody>
      </p:sp>
      <p:sp>
        <p:nvSpPr>
          <p:cNvPr id="8" name="TextBox 7"/>
          <p:cNvSpPr txBox="1"/>
          <p:nvPr/>
        </p:nvSpPr>
        <p:spPr>
          <a:xfrm>
            <a:off x="6724650" y="2286000"/>
            <a:ext cx="4730591" cy="800100"/>
          </a:xfrm>
          <a:prstGeom prst="rect">
            <a:avLst/>
          </a:prstGeom>
          <a:noFill/>
        </p:spPr>
        <p:txBody>
          <a:bodyPr wrap="square" lIns="0" tIns="0" rIns="0" bIns="0" anchor="t">
            <a:spAutoFit/>
          </a:bodyPr>
          <a:lstStyle/>
          <a:p>
            <a:pPr algn="l"/>
            <a:r>
              <a:rPr sz="2100" b="1" i="0" u="none">
                <a:solidFill>
                  <a:srgbClr val="10B981"/>
                </a:solidFill>
                <a:latin typeface="Poppins"/>
              </a:rPr>
              <a:t>2. Selected: Gated Multimodal Unit</a:t>
            </a:r>
          </a:p>
        </p:txBody>
      </p:sp>
      <p:sp>
        <p:nvSpPr>
          <p:cNvPr id="9" name="TextBox 8"/>
          <p:cNvSpPr txBox="1"/>
          <p:nvPr/>
        </p:nvSpPr>
        <p:spPr>
          <a:xfrm>
            <a:off x="6724650" y="3228975"/>
            <a:ext cx="4505325" cy="609600"/>
          </a:xfrm>
          <a:prstGeom prst="rect">
            <a:avLst/>
          </a:prstGeom>
          <a:noFill/>
        </p:spPr>
        <p:txBody>
          <a:bodyPr wrap="square" lIns="0" tIns="0" rIns="0" bIns="0" anchor="t">
            <a:spAutoFit/>
          </a:bodyPr>
          <a:lstStyle/>
          <a:p>
            <a:pPr algn="l">
              <a:lnSpc>
                <a:spcPts val="2400"/>
              </a:lnSpc>
            </a:pPr>
            <a:r>
              <a:rPr sz="1500" b="1" i="0" u="none">
                <a:solidFill>
                  <a:srgbClr val="475569"/>
                </a:solidFill>
                <a:latin typeface="Lato"/>
              </a:rPr>
              <a:t>The Solution:</a:t>
            </a:r>
            <a:r>
              <a:rPr sz="1500" b="0" i="0" u="none">
                <a:solidFill>
                  <a:srgbClr val="475569"/>
                </a:solidFill>
                <a:latin typeface="Lato"/>
              </a:rPr>
              <a:t> I developed a GMU architecture that utilizes deep feature-level fusion.</a:t>
            </a:r>
          </a:p>
        </p:txBody>
      </p:sp>
      <p:sp>
        <p:nvSpPr>
          <p:cNvPr id="10" name="TextBox 9"/>
          <p:cNvSpPr txBox="1"/>
          <p:nvPr/>
        </p:nvSpPr>
        <p:spPr>
          <a:xfrm>
            <a:off x="6724650" y="3981450"/>
            <a:ext cx="4505325" cy="1524000"/>
          </a:xfrm>
          <a:prstGeom prst="rect">
            <a:avLst/>
          </a:prstGeom>
          <a:noFill/>
        </p:spPr>
        <p:txBody>
          <a:bodyPr wrap="square" lIns="0" tIns="0" rIns="0" bIns="0" anchor="t">
            <a:spAutoFit/>
          </a:bodyPr>
          <a:lstStyle/>
          <a:p>
            <a:pPr algn="l">
              <a:lnSpc>
                <a:spcPts val="2400"/>
              </a:lnSpc>
            </a:pPr>
            <a:r>
              <a:rPr sz="1500" b="1" i="0" u="none" dirty="0">
                <a:solidFill>
                  <a:srgbClr val="475569"/>
                </a:solidFill>
                <a:latin typeface="Lato"/>
              </a:rPr>
              <a:t>Why?</a:t>
            </a:r>
            <a:r>
              <a:rPr sz="1500" b="0" i="0" u="none" dirty="0">
                <a:solidFill>
                  <a:srgbClr val="475569"/>
                </a:solidFill>
                <a:latin typeface="Lato"/>
              </a:rPr>
              <a:t> It calculates dense mathematical attention weights (a gate) to evaluate the reliability of each input stream. If satellite data is corrupted, the gate dynamically reroutes predictive logic to rely solely on the uncorrupted weather data.</a:t>
            </a:r>
          </a:p>
        </p:txBody>
      </p:sp>
      <p:sp>
        <p:nvSpPr>
          <p:cNvPr id="11" name="TextBox 10"/>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Options Considered &amp; Selected Approach</a:t>
            </a:r>
          </a:p>
        </p:txBody>
      </p:sp>
      <p:sp>
        <p:nvSpPr>
          <p:cNvPr id="12" name="Rectangle 11"/>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847850"/>
            <a:ext cx="3429000" cy="4238625"/>
          </a:xfrm>
          <a:prstGeom prst="rect">
            <a:avLst/>
          </a:prstGeom>
        </p:spPr>
      </p:pic>
      <p:pic>
        <p:nvPicPr>
          <p:cNvPr id="4" name="Picture 3" descr="image.png"/>
          <p:cNvPicPr>
            <a:picLocks noChangeAspect="1"/>
          </p:cNvPicPr>
          <p:nvPr/>
        </p:nvPicPr>
        <p:blipFill>
          <a:blip r:embed="rId4"/>
          <a:stretch>
            <a:fillRect/>
          </a:stretch>
        </p:blipFill>
        <p:spPr>
          <a:xfrm>
            <a:off x="4381500" y="1847850"/>
            <a:ext cx="3429000" cy="4238625"/>
          </a:xfrm>
          <a:prstGeom prst="rect">
            <a:avLst/>
          </a:prstGeom>
        </p:spPr>
      </p:pic>
      <p:pic>
        <p:nvPicPr>
          <p:cNvPr id="5" name="Picture 4" descr="image.png"/>
          <p:cNvPicPr>
            <a:picLocks noChangeAspect="1"/>
          </p:cNvPicPr>
          <p:nvPr/>
        </p:nvPicPr>
        <p:blipFill>
          <a:blip r:embed="rId5"/>
          <a:stretch>
            <a:fillRect/>
          </a:stretch>
        </p:blipFill>
        <p:spPr>
          <a:xfrm>
            <a:off x="8191500" y="1847850"/>
            <a:ext cx="3429000" cy="4238625"/>
          </a:xfrm>
          <a:prstGeom prst="rect">
            <a:avLst/>
          </a:prstGeom>
        </p:spPr>
      </p:pic>
      <p:sp>
        <p:nvSpPr>
          <p:cNvPr id="6" name="TextBox 5"/>
          <p:cNvSpPr txBox="1"/>
          <p:nvPr/>
        </p:nvSpPr>
        <p:spPr>
          <a:xfrm>
            <a:off x="795813" y="2876550"/>
            <a:ext cx="2980372" cy="800100"/>
          </a:xfrm>
          <a:prstGeom prst="rect">
            <a:avLst/>
          </a:prstGeom>
          <a:noFill/>
        </p:spPr>
        <p:txBody>
          <a:bodyPr wrap="square" lIns="0" tIns="0" rIns="0" bIns="0" anchor="t">
            <a:spAutoFit/>
          </a:bodyPr>
          <a:lstStyle/>
          <a:p>
            <a:pPr algn="ctr"/>
            <a:r>
              <a:rPr sz="2100" b="1" i="0" u="none">
                <a:solidFill>
                  <a:srgbClr val="0284C7"/>
                </a:solidFill>
                <a:latin typeface="Poppins"/>
              </a:rPr>
              <a:t>The CropNet Dataset</a:t>
            </a:r>
          </a:p>
        </p:txBody>
      </p:sp>
      <p:sp>
        <p:nvSpPr>
          <p:cNvPr id="7" name="TextBox 6"/>
          <p:cNvSpPr txBox="1"/>
          <p:nvPr/>
        </p:nvSpPr>
        <p:spPr>
          <a:xfrm>
            <a:off x="866775" y="3819525"/>
            <a:ext cx="2838450" cy="1828800"/>
          </a:xfrm>
          <a:prstGeom prst="rect">
            <a:avLst/>
          </a:prstGeom>
          <a:noFill/>
        </p:spPr>
        <p:txBody>
          <a:bodyPr wrap="square" lIns="0" tIns="0" rIns="0" bIns="0" anchor="t">
            <a:spAutoFit/>
          </a:bodyPr>
          <a:lstStyle/>
          <a:p>
            <a:pPr algn="ctr">
              <a:lnSpc>
                <a:spcPts val="2400"/>
              </a:lnSpc>
            </a:pPr>
            <a:r>
              <a:rPr sz="1500" b="0" i="0" u="none">
                <a:solidFill>
                  <a:srgbClr val="475569"/>
                </a:solidFill>
                <a:latin typeface="Lato"/>
              </a:rPr>
              <a:t>Targeting USDA NASS Soybean Yield (BU/ACRE). Utilizing HRRR Meteorological Tensors and Sentinel-2 Multispectral Imagery across the US Corn Belt (2016-2022).</a:t>
            </a:r>
          </a:p>
        </p:txBody>
      </p:sp>
      <p:sp>
        <p:nvSpPr>
          <p:cNvPr id="8" name="TextBox 7"/>
          <p:cNvSpPr txBox="1"/>
          <p:nvPr/>
        </p:nvSpPr>
        <p:spPr>
          <a:xfrm>
            <a:off x="4665821" y="2876550"/>
            <a:ext cx="2860357" cy="400050"/>
          </a:xfrm>
          <a:prstGeom prst="rect">
            <a:avLst/>
          </a:prstGeom>
          <a:noFill/>
        </p:spPr>
        <p:txBody>
          <a:bodyPr wrap="square" lIns="0" tIns="0" rIns="0" bIns="0" anchor="t">
            <a:spAutoFit/>
          </a:bodyPr>
          <a:lstStyle/>
          <a:p>
            <a:pPr algn="ctr"/>
            <a:r>
              <a:rPr sz="2100" b="1" i="0" u="none">
                <a:solidFill>
                  <a:srgbClr val="0284C7"/>
                </a:solidFill>
                <a:latin typeface="Poppins"/>
              </a:rPr>
              <a:t>The FIPS Bottleneck</a:t>
            </a:r>
          </a:p>
        </p:txBody>
      </p:sp>
      <p:sp>
        <p:nvSpPr>
          <p:cNvPr id="9" name="TextBox 8"/>
          <p:cNvSpPr txBox="1"/>
          <p:nvPr/>
        </p:nvSpPr>
        <p:spPr>
          <a:xfrm>
            <a:off x="4676775" y="3419475"/>
            <a:ext cx="2838450" cy="1828800"/>
          </a:xfrm>
          <a:prstGeom prst="rect">
            <a:avLst/>
          </a:prstGeom>
          <a:noFill/>
        </p:spPr>
        <p:txBody>
          <a:bodyPr wrap="square" lIns="0" tIns="0" rIns="0" bIns="0" anchor="t">
            <a:spAutoFit/>
          </a:bodyPr>
          <a:lstStyle/>
          <a:p>
            <a:pPr algn="ctr">
              <a:lnSpc>
                <a:spcPts val="2400"/>
              </a:lnSpc>
            </a:pPr>
            <a:r>
              <a:rPr sz="1500" b="0" i="0" u="none">
                <a:solidFill>
                  <a:srgbClr val="475569"/>
                </a:solidFill>
                <a:latin typeface="Lato"/>
              </a:rPr>
              <a:t>Discovered a profound infrastructural mismatch between Sentinel (County ANSI) and USDA data, reducing usable multimodal data to ~14 state-years via state-aggregate fusion.</a:t>
            </a:r>
          </a:p>
        </p:txBody>
      </p:sp>
      <p:sp>
        <p:nvSpPr>
          <p:cNvPr id="10" name="TextBox 9"/>
          <p:cNvSpPr txBox="1"/>
          <p:nvPr/>
        </p:nvSpPr>
        <p:spPr>
          <a:xfrm>
            <a:off x="8415813" y="2876550"/>
            <a:ext cx="2980372" cy="800100"/>
          </a:xfrm>
          <a:prstGeom prst="rect">
            <a:avLst/>
          </a:prstGeom>
          <a:noFill/>
        </p:spPr>
        <p:txBody>
          <a:bodyPr wrap="square" lIns="0" tIns="0" rIns="0" bIns="0" anchor="t">
            <a:spAutoFit/>
          </a:bodyPr>
          <a:lstStyle/>
          <a:p>
            <a:pPr algn="ctr"/>
            <a:r>
              <a:rPr sz="2100" b="1" i="0" u="none">
                <a:solidFill>
                  <a:srgbClr val="0284C7"/>
                </a:solidFill>
                <a:latin typeface="Poppins"/>
              </a:rPr>
              <a:t>Target Transformation</a:t>
            </a:r>
          </a:p>
        </p:txBody>
      </p:sp>
      <p:sp>
        <p:nvSpPr>
          <p:cNvPr id="11" name="TextBox 10"/>
          <p:cNvSpPr txBox="1"/>
          <p:nvPr/>
        </p:nvSpPr>
        <p:spPr>
          <a:xfrm>
            <a:off x="8486775" y="3819525"/>
            <a:ext cx="2838450" cy="1524000"/>
          </a:xfrm>
          <a:prstGeom prst="rect">
            <a:avLst/>
          </a:prstGeom>
          <a:noFill/>
        </p:spPr>
        <p:txBody>
          <a:bodyPr wrap="square" lIns="0" tIns="0" rIns="0" bIns="0" anchor="t">
            <a:spAutoFit/>
          </a:bodyPr>
          <a:lstStyle/>
          <a:p>
            <a:pPr algn="ctr">
              <a:lnSpc>
                <a:spcPts val="2400"/>
              </a:lnSpc>
            </a:pPr>
            <a:r>
              <a:rPr sz="1500" b="0" i="0" u="none">
                <a:solidFill>
                  <a:srgbClr val="475569"/>
                </a:solidFill>
                <a:latin typeface="Lato"/>
              </a:rPr>
              <a:t>Raw yields exhibited extreme non-normality. Applied log-transformation for SGD stability, requiring Jensen's Bias Correction during inference.</a:t>
            </a:r>
          </a:p>
        </p:txBody>
      </p:sp>
      <p:pic>
        <p:nvPicPr>
          <p:cNvPr id="12" name="Picture 11" descr="image.png"/>
          <p:cNvPicPr>
            <a:picLocks noChangeAspect="1"/>
          </p:cNvPicPr>
          <p:nvPr/>
        </p:nvPicPr>
        <p:blipFill>
          <a:blip r:embed="rId6"/>
          <a:stretch>
            <a:fillRect/>
          </a:stretch>
        </p:blipFill>
        <p:spPr>
          <a:xfrm>
            <a:off x="2085975" y="2190750"/>
            <a:ext cx="400050" cy="457200"/>
          </a:xfrm>
          <a:prstGeom prst="rect">
            <a:avLst/>
          </a:prstGeom>
        </p:spPr>
      </p:pic>
      <p:pic>
        <p:nvPicPr>
          <p:cNvPr id="13" name="Picture 12" descr="image.png"/>
          <p:cNvPicPr>
            <a:picLocks noChangeAspect="1"/>
          </p:cNvPicPr>
          <p:nvPr/>
        </p:nvPicPr>
        <p:blipFill>
          <a:blip r:embed="rId7"/>
          <a:stretch>
            <a:fillRect/>
          </a:stretch>
        </p:blipFill>
        <p:spPr>
          <a:xfrm>
            <a:off x="5867400" y="2190750"/>
            <a:ext cx="457200" cy="457200"/>
          </a:xfrm>
          <a:prstGeom prst="rect">
            <a:avLst/>
          </a:prstGeom>
        </p:spPr>
      </p:pic>
      <p:pic>
        <p:nvPicPr>
          <p:cNvPr id="14" name="Picture 13" descr="image.png"/>
          <p:cNvPicPr>
            <a:picLocks noChangeAspect="1"/>
          </p:cNvPicPr>
          <p:nvPr/>
        </p:nvPicPr>
        <p:blipFill>
          <a:blip r:embed="rId8"/>
          <a:stretch>
            <a:fillRect/>
          </a:stretch>
        </p:blipFill>
        <p:spPr>
          <a:xfrm>
            <a:off x="9677400" y="2190750"/>
            <a:ext cx="457200" cy="457200"/>
          </a:xfrm>
          <a:prstGeom prst="rect">
            <a:avLst/>
          </a:prstGeom>
        </p:spPr>
      </p:pic>
      <p:sp>
        <p:nvSpPr>
          <p:cNvPr id="15" name="TextBox 14"/>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Data Preprocessing &amp; Infrastructure</a:t>
            </a:r>
          </a:p>
        </p:txBody>
      </p:sp>
      <p:sp>
        <p:nvSpPr>
          <p:cNvPr id="16" name="Rectangle 15"/>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100387"/>
            <a:ext cx="5286375" cy="713928"/>
          </a:xfrm>
          <a:prstGeom prst="rect">
            <a:avLst/>
          </a:prstGeom>
        </p:spPr>
      </p:pic>
      <p:pic>
        <p:nvPicPr>
          <p:cNvPr id="4" name="Picture 3" descr="image.png"/>
          <p:cNvPicPr>
            <a:picLocks noChangeAspect="1"/>
          </p:cNvPicPr>
          <p:nvPr/>
        </p:nvPicPr>
        <p:blipFill>
          <a:blip r:embed="rId4"/>
          <a:stretch>
            <a:fillRect/>
          </a:stretch>
        </p:blipFill>
        <p:spPr>
          <a:xfrm>
            <a:off x="6334125" y="2300287"/>
            <a:ext cx="5286375" cy="3333750"/>
          </a:xfrm>
          <a:prstGeom prst="rect">
            <a:avLst/>
          </a:prstGeom>
        </p:spPr>
      </p:pic>
      <p:sp>
        <p:nvSpPr>
          <p:cNvPr id="5" name="TextBox 4"/>
          <p:cNvSpPr txBox="1"/>
          <p:nvPr/>
        </p:nvSpPr>
        <p:spPr>
          <a:xfrm>
            <a:off x="571500" y="2300287"/>
            <a:ext cx="5286375" cy="6096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I engineered a dual-stream neural network replacing static averaging with adaptive mathematical gating.</a:t>
            </a:r>
          </a:p>
        </p:txBody>
      </p:sp>
      <p:pic>
        <p:nvPicPr>
          <p:cNvPr id="6" name="Picture 5" descr="image.png"/>
          <p:cNvPicPr>
            <a:picLocks noChangeAspect="1"/>
          </p:cNvPicPr>
          <p:nvPr/>
        </p:nvPicPr>
        <p:blipFill>
          <a:blip r:embed="rId5"/>
          <a:stretch>
            <a:fillRect/>
          </a:stretch>
        </p:blipFill>
        <p:spPr>
          <a:xfrm>
            <a:off x="819150" y="3348037"/>
            <a:ext cx="4791075" cy="218628"/>
          </a:xfrm>
          <a:prstGeom prst="rect">
            <a:avLst/>
          </a:prstGeom>
        </p:spPr>
      </p:pic>
      <p:sp>
        <p:nvSpPr>
          <p:cNvPr id="7" name="TextBox 6"/>
          <p:cNvSpPr txBox="1"/>
          <p:nvPr/>
        </p:nvSpPr>
        <p:spPr>
          <a:xfrm>
            <a:off x="695325" y="4004816"/>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8" name="TextBox 7"/>
          <p:cNvSpPr txBox="1"/>
          <p:nvPr/>
        </p:nvSpPr>
        <p:spPr>
          <a:xfrm>
            <a:off x="809625" y="4004816"/>
            <a:ext cx="5048250" cy="579582"/>
          </a:xfrm>
          <a:prstGeom prst="rect">
            <a:avLst/>
          </a:prstGeom>
          <a:noFill/>
        </p:spPr>
        <p:txBody>
          <a:bodyPr wrap="square" lIns="114300" tIns="0" rIns="0" bIns="0" anchor="t">
            <a:spAutoFit/>
          </a:bodyPr>
          <a:lstStyle/>
          <a:p>
            <a:pPr algn="l">
              <a:lnSpc>
                <a:spcPts val="2400"/>
              </a:lnSpc>
            </a:pPr>
            <a:r>
              <a:rPr sz="1500" b="1" i="0" u="none" dirty="0">
                <a:solidFill>
                  <a:srgbClr val="475569"/>
                </a:solidFill>
                <a:latin typeface="Lato"/>
              </a:rPr>
              <a:t>Encoders:</a:t>
            </a:r>
            <a:r>
              <a:rPr sz="1500" b="0" i="0" u="none" dirty="0">
                <a:solidFill>
                  <a:srgbClr val="475569"/>
                </a:solidFill>
                <a:latin typeface="Lato"/>
              </a:rPr>
              <a:t> Weather via Bi-LSTM; Satellite via</a:t>
            </a:r>
            <a:r>
              <a:rPr lang="en-IN" sz="1500" b="0" i="0" u="none" dirty="0">
                <a:solidFill>
                  <a:srgbClr val="475569"/>
                </a:solidFill>
                <a:latin typeface="Lato"/>
              </a:rPr>
              <a:t> CNN</a:t>
            </a:r>
          </a:p>
          <a:p>
            <a:pPr algn="l">
              <a:lnSpc>
                <a:spcPts val="2400"/>
              </a:lnSpc>
            </a:pPr>
            <a:r>
              <a:rPr sz="1500" b="0" i="0" u="none" dirty="0">
                <a:solidFill>
                  <a:srgbClr val="475569"/>
                </a:solidFill>
                <a:latin typeface="Lato"/>
              </a:rPr>
              <a:t>.</a:t>
            </a:r>
          </a:p>
        </p:txBody>
      </p:sp>
      <p:sp>
        <p:nvSpPr>
          <p:cNvPr id="9" name="TextBox 8"/>
          <p:cNvSpPr txBox="1"/>
          <p:nvPr/>
        </p:nvSpPr>
        <p:spPr>
          <a:xfrm>
            <a:off x="695325" y="4452491"/>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10" name="TextBox 9"/>
          <p:cNvSpPr txBox="1"/>
          <p:nvPr/>
        </p:nvSpPr>
        <p:spPr>
          <a:xfrm>
            <a:off x="809625" y="4452491"/>
            <a:ext cx="5048250" cy="609600"/>
          </a:xfrm>
          <a:prstGeom prst="rect">
            <a:avLst/>
          </a:prstGeom>
          <a:noFill/>
        </p:spPr>
        <p:txBody>
          <a:bodyPr wrap="square" lIns="114300" tIns="0" rIns="0" bIns="0" anchor="t">
            <a:spAutoFit/>
          </a:bodyPr>
          <a:lstStyle/>
          <a:p>
            <a:pPr algn="l">
              <a:lnSpc>
                <a:spcPts val="2400"/>
              </a:lnSpc>
            </a:pPr>
            <a:r>
              <a:rPr sz="1500" b="1" i="0" u="none" dirty="0">
                <a:solidFill>
                  <a:srgbClr val="475569"/>
                </a:solidFill>
                <a:latin typeface="Lato"/>
              </a:rPr>
              <a:t>Gate :</a:t>
            </a:r>
            <a:r>
              <a:rPr sz="1500" b="0" i="0" u="none" dirty="0">
                <a:solidFill>
                  <a:srgbClr val="475569"/>
                </a:solidFill>
                <a:latin typeface="Lato"/>
              </a:rPr>
              <a:t> Dynamically routes predictions based on input reliability.</a:t>
            </a:r>
          </a:p>
        </p:txBody>
      </p:sp>
      <p:pic>
        <p:nvPicPr>
          <p:cNvPr id="11" name="Picture 10" descr="image.png"/>
          <p:cNvPicPr>
            <a:picLocks noChangeAspect="1"/>
          </p:cNvPicPr>
          <p:nvPr/>
        </p:nvPicPr>
        <p:blipFill>
          <a:blip r:embed="rId6"/>
          <a:stretch>
            <a:fillRect/>
          </a:stretch>
        </p:blipFill>
        <p:spPr>
          <a:xfrm>
            <a:off x="6334125" y="2300287"/>
            <a:ext cx="5286375" cy="3333750"/>
          </a:xfrm>
          <a:prstGeom prst="rect">
            <a:avLst/>
          </a:prstGeom>
        </p:spPr>
      </p:pic>
      <p:pic>
        <p:nvPicPr>
          <p:cNvPr id="12" name="Picture 11" descr="image.png"/>
          <p:cNvPicPr>
            <a:picLocks noChangeAspect="1"/>
          </p:cNvPicPr>
          <p:nvPr/>
        </p:nvPicPr>
        <p:blipFill>
          <a:blip r:embed="rId7"/>
          <a:stretch>
            <a:fillRect/>
          </a:stretch>
        </p:blipFill>
        <p:spPr>
          <a:xfrm>
            <a:off x="1257300" y="4585841"/>
            <a:ext cx="84683" cy="95250"/>
          </a:xfrm>
          <a:prstGeom prst="rect">
            <a:avLst/>
          </a:prstGeom>
        </p:spPr>
      </p:pic>
      <p:sp>
        <p:nvSpPr>
          <p:cNvPr id="13" name="TextBox 12"/>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What Was Developed: GMU Architecture</a:t>
            </a:r>
          </a:p>
        </p:txBody>
      </p:sp>
      <p:sp>
        <p:nvSpPr>
          <p:cNvPr id="14" name="Rectangle 13"/>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1508670"/>
            <a:ext cx="3486150" cy="4623196"/>
          </a:xfrm>
          <a:prstGeom prst="rect">
            <a:avLst/>
          </a:prstGeom>
        </p:spPr>
      </p:pic>
      <p:pic>
        <p:nvPicPr>
          <p:cNvPr id="4" name="Picture 3" descr="image.png"/>
          <p:cNvPicPr>
            <a:picLocks noChangeAspect="1"/>
          </p:cNvPicPr>
          <p:nvPr/>
        </p:nvPicPr>
        <p:blipFill>
          <a:blip r:embed="rId4"/>
          <a:stretch>
            <a:fillRect/>
          </a:stretch>
        </p:blipFill>
        <p:spPr>
          <a:xfrm>
            <a:off x="4352925" y="1508670"/>
            <a:ext cx="3486150" cy="4623196"/>
          </a:xfrm>
          <a:prstGeom prst="rect">
            <a:avLst/>
          </a:prstGeom>
        </p:spPr>
      </p:pic>
      <p:pic>
        <p:nvPicPr>
          <p:cNvPr id="5" name="Picture 4" descr="image.png"/>
          <p:cNvPicPr>
            <a:picLocks noChangeAspect="1"/>
          </p:cNvPicPr>
          <p:nvPr/>
        </p:nvPicPr>
        <p:blipFill>
          <a:blip r:embed="rId5"/>
          <a:stretch>
            <a:fillRect/>
          </a:stretch>
        </p:blipFill>
        <p:spPr>
          <a:xfrm>
            <a:off x="8124825" y="1508670"/>
            <a:ext cx="3486150" cy="4623196"/>
          </a:xfrm>
          <a:prstGeom prst="rect">
            <a:avLst/>
          </a:prstGeom>
        </p:spPr>
      </p:pic>
      <p:sp>
        <p:nvSpPr>
          <p:cNvPr id="6" name="TextBox 5"/>
          <p:cNvSpPr txBox="1"/>
          <p:nvPr/>
        </p:nvSpPr>
        <p:spPr>
          <a:xfrm>
            <a:off x="876300" y="2442120"/>
            <a:ext cx="3040380" cy="228600"/>
          </a:xfrm>
          <a:prstGeom prst="rect">
            <a:avLst/>
          </a:prstGeom>
          <a:noFill/>
        </p:spPr>
        <p:txBody>
          <a:bodyPr wrap="square" lIns="0" tIns="0" rIns="0" bIns="0" anchor="t">
            <a:spAutoFit/>
          </a:bodyPr>
          <a:lstStyle/>
          <a:p>
            <a:pPr algn="l">
              <a:lnSpc>
                <a:spcPts val="1800"/>
              </a:lnSpc>
            </a:pPr>
            <a:r>
              <a:rPr sz="1500" b="0" i="0" u="none">
                <a:solidFill>
                  <a:srgbClr val="1E293B"/>
                </a:solidFill>
                <a:latin typeface="Inter SemiBold"/>
              </a:rPr>
              <a:t>Phase 1: Weather-Only Bi-LSTM</a:t>
            </a:r>
          </a:p>
        </p:txBody>
      </p:sp>
      <p:sp>
        <p:nvSpPr>
          <p:cNvPr id="7" name="TextBox 6"/>
          <p:cNvSpPr txBox="1"/>
          <p:nvPr/>
        </p:nvSpPr>
        <p:spPr>
          <a:xfrm>
            <a:off x="4648200" y="2442120"/>
            <a:ext cx="3040380" cy="228600"/>
          </a:xfrm>
          <a:prstGeom prst="rect">
            <a:avLst/>
          </a:prstGeom>
          <a:noFill/>
        </p:spPr>
        <p:txBody>
          <a:bodyPr wrap="square" lIns="0" tIns="0" rIns="0" bIns="0" anchor="t">
            <a:spAutoFit/>
          </a:bodyPr>
          <a:lstStyle/>
          <a:p>
            <a:pPr algn="l">
              <a:lnSpc>
                <a:spcPts val="1800"/>
              </a:lnSpc>
            </a:pPr>
            <a:r>
              <a:rPr sz="1500" b="0" i="0" u="none">
                <a:solidFill>
                  <a:srgbClr val="1E293B"/>
                </a:solidFill>
                <a:latin typeface="Inter SemiBold"/>
              </a:rPr>
              <a:t>Phase 2: Satellite-Only CNN</a:t>
            </a:r>
          </a:p>
        </p:txBody>
      </p:sp>
      <p:sp>
        <p:nvSpPr>
          <p:cNvPr id="8" name="TextBox 7"/>
          <p:cNvSpPr txBox="1"/>
          <p:nvPr/>
        </p:nvSpPr>
        <p:spPr>
          <a:xfrm>
            <a:off x="8420100" y="2442120"/>
            <a:ext cx="3040380" cy="228600"/>
          </a:xfrm>
          <a:prstGeom prst="rect">
            <a:avLst/>
          </a:prstGeom>
          <a:noFill/>
        </p:spPr>
        <p:txBody>
          <a:bodyPr wrap="square" lIns="0" tIns="0" rIns="0" bIns="0" anchor="t">
            <a:spAutoFit/>
          </a:bodyPr>
          <a:lstStyle/>
          <a:p>
            <a:pPr algn="l">
              <a:lnSpc>
                <a:spcPts val="1800"/>
              </a:lnSpc>
            </a:pPr>
            <a:r>
              <a:rPr sz="1500" b="0" i="0" u="none">
                <a:solidFill>
                  <a:srgbClr val="059669"/>
                </a:solidFill>
                <a:latin typeface="Inter SemiBold"/>
              </a:rPr>
              <a:t>Phase 3: GMU Fusion</a:t>
            </a:r>
          </a:p>
        </p:txBody>
      </p:sp>
      <p:pic>
        <p:nvPicPr>
          <p:cNvPr id="9" name="Picture 8" descr="image.png"/>
          <p:cNvPicPr>
            <a:picLocks noChangeAspect="1"/>
          </p:cNvPicPr>
          <p:nvPr/>
        </p:nvPicPr>
        <p:blipFill>
          <a:blip r:embed="rId6"/>
          <a:stretch>
            <a:fillRect/>
          </a:stretch>
        </p:blipFill>
        <p:spPr>
          <a:xfrm>
            <a:off x="876300" y="1870620"/>
            <a:ext cx="428625" cy="342900"/>
          </a:xfrm>
          <a:prstGeom prst="rect">
            <a:avLst/>
          </a:prstGeom>
        </p:spPr>
      </p:pic>
      <p:sp>
        <p:nvSpPr>
          <p:cNvPr id="10" name="TextBox 9"/>
          <p:cNvSpPr txBox="1"/>
          <p:nvPr/>
        </p:nvSpPr>
        <p:spPr>
          <a:xfrm>
            <a:off x="1162050" y="2785020"/>
            <a:ext cx="26098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2-layer bidirectional LSTM (hidden=128)</a:t>
            </a:r>
          </a:p>
        </p:txBody>
      </p:sp>
      <p:sp>
        <p:nvSpPr>
          <p:cNvPr id="11" name="TextBox 10"/>
          <p:cNvSpPr txBox="1"/>
          <p:nvPr/>
        </p:nvSpPr>
        <p:spPr>
          <a:xfrm>
            <a:off x="1162050" y="3466951"/>
            <a:ext cx="260985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~146K parameters</a:t>
            </a:r>
          </a:p>
        </p:txBody>
      </p:sp>
      <p:sp>
        <p:nvSpPr>
          <p:cNvPr id="12" name="TextBox 11"/>
          <p:cNvSpPr txBox="1"/>
          <p:nvPr/>
        </p:nvSpPr>
        <p:spPr>
          <a:xfrm>
            <a:off x="1162050" y="3874591"/>
            <a:ext cx="26098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Trained on 2,828 records (15 states)</a:t>
            </a:r>
          </a:p>
        </p:txBody>
      </p:sp>
      <p:sp>
        <p:nvSpPr>
          <p:cNvPr id="13" name="TextBox 12"/>
          <p:cNvSpPr txBox="1"/>
          <p:nvPr/>
        </p:nvSpPr>
        <p:spPr>
          <a:xfrm>
            <a:off x="1162050" y="4556521"/>
            <a:ext cx="2609850" cy="548580"/>
          </a:xfrm>
          <a:prstGeom prst="rect">
            <a:avLst/>
          </a:prstGeom>
          <a:noFill/>
        </p:spPr>
        <p:txBody>
          <a:bodyPr wrap="square" lIns="0" tIns="0" rIns="0" bIns="0" anchor="t">
            <a:spAutoFit/>
          </a:bodyPr>
          <a:lstStyle/>
          <a:p>
            <a:pPr algn="l">
              <a:lnSpc>
                <a:spcPts val="2160"/>
              </a:lnSpc>
            </a:pPr>
            <a:r>
              <a:rPr sz="1350" b="0" i="0" u="none">
                <a:solidFill>
                  <a:srgbClr val="2563EB"/>
                </a:solidFill>
                <a:latin typeface="Inter SemiBold"/>
              </a:rPr>
              <a:t>Output: temporal weather embedding</a:t>
            </a:r>
          </a:p>
        </p:txBody>
      </p:sp>
      <p:pic>
        <p:nvPicPr>
          <p:cNvPr id="14" name="Picture 13" descr="image.png"/>
          <p:cNvPicPr>
            <a:picLocks noChangeAspect="1"/>
          </p:cNvPicPr>
          <p:nvPr/>
        </p:nvPicPr>
        <p:blipFill>
          <a:blip r:embed="rId7"/>
          <a:stretch>
            <a:fillRect/>
          </a:stretch>
        </p:blipFill>
        <p:spPr>
          <a:xfrm>
            <a:off x="4648200" y="1870620"/>
            <a:ext cx="342900" cy="342900"/>
          </a:xfrm>
          <a:prstGeom prst="rect">
            <a:avLst/>
          </a:prstGeom>
        </p:spPr>
      </p:pic>
      <p:sp>
        <p:nvSpPr>
          <p:cNvPr id="15" name="TextBox 14"/>
          <p:cNvSpPr txBox="1"/>
          <p:nvPr/>
        </p:nvSpPr>
        <p:spPr>
          <a:xfrm>
            <a:off x="4933950" y="2785020"/>
            <a:ext cx="2609850" cy="548580"/>
          </a:xfrm>
          <a:prstGeom prst="rect">
            <a:avLst/>
          </a:prstGeom>
          <a:noFill/>
        </p:spPr>
        <p:txBody>
          <a:bodyPr wrap="square" lIns="0" tIns="0" rIns="0" bIns="0" anchor="t">
            <a:spAutoFit/>
          </a:bodyPr>
          <a:lstStyle/>
          <a:p>
            <a:pPr algn="l">
              <a:lnSpc>
                <a:spcPts val="2160"/>
              </a:lnSpc>
            </a:pPr>
            <a:r>
              <a:rPr sz="1350" b="0" i="0" u="none" dirty="0">
                <a:solidFill>
                  <a:srgbClr val="334155"/>
                </a:solidFill>
                <a:latin typeface="Inter"/>
              </a:rPr>
              <a:t>Custom </a:t>
            </a:r>
            <a:r>
              <a:rPr sz="1350" b="0" i="0" u="none" dirty="0" err="1">
                <a:solidFill>
                  <a:srgbClr val="334155"/>
                </a:solidFill>
                <a:latin typeface="Inter"/>
              </a:rPr>
              <a:t>SentinelEncoder</a:t>
            </a:r>
            <a:r>
              <a:rPr sz="1350" b="0" i="0" u="none" dirty="0">
                <a:solidFill>
                  <a:srgbClr val="334155"/>
                </a:solidFill>
                <a:latin typeface="Inter"/>
              </a:rPr>
              <a:t> (12→32→64 </a:t>
            </a:r>
            <a:r>
              <a:rPr sz="1350" b="0" i="0" u="none" dirty="0" err="1">
                <a:solidFill>
                  <a:srgbClr val="334155"/>
                </a:solidFill>
                <a:latin typeface="Inter"/>
              </a:rPr>
              <a:t>ch</a:t>
            </a:r>
            <a:r>
              <a:rPr sz="1350" b="0" i="0" u="none" dirty="0">
                <a:solidFill>
                  <a:srgbClr val="334155"/>
                </a:solidFill>
                <a:latin typeface="Inter"/>
              </a:rPr>
              <a:t>)</a:t>
            </a:r>
          </a:p>
        </p:txBody>
      </p:sp>
      <p:sp>
        <p:nvSpPr>
          <p:cNvPr id="17" name="TextBox 16"/>
          <p:cNvSpPr txBox="1"/>
          <p:nvPr/>
        </p:nvSpPr>
        <p:spPr>
          <a:xfrm>
            <a:off x="4881565" y="3519808"/>
            <a:ext cx="2609850" cy="274290"/>
          </a:xfrm>
          <a:prstGeom prst="rect">
            <a:avLst/>
          </a:prstGeom>
          <a:noFill/>
        </p:spPr>
        <p:txBody>
          <a:bodyPr wrap="square" lIns="0" tIns="0" rIns="0" bIns="0" anchor="t">
            <a:spAutoFit/>
          </a:bodyPr>
          <a:lstStyle/>
          <a:p>
            <a:pPr algn="l">
              <a:lnSpc>
                <a:spcPts val="2160"/>
              </a:lnSpc>
            </a:pPr>
            <a:r>
              <a:rPr sz="1350" b="0" i="0" u="none" dirty="0">
                <a:solidFill>
                  <a:srgbClr val="334155"/>
                </a:solidFill>
                <a:latin typeface="Inter"/>
              </a:rPr>
              <a:t>~59K parameters</a:t>
            </a:r>
          </a:p>
        </p:txBody>
      </p:sp>
      <p:sp>
        <p:nvSpPr>
          <p:cNvPr id="18" name="TextBox 17"/>
          <p:cNvSpPr txBox="1"/>
          <p:nvPr/>
        </p:nvSpPr>
        <p:spPr>
          <a:xfrm>
            <a:off x="4863465" y="4084719"/>
            <a:ext cx="2609850" cy="548580"/>
          </a:xfrm>
          <a:prstGeom prst="rect">
            <a:avLst/>
          </a:prstGeom>
          <a:noFill/>
        </p:spPr>
        <p:txBody>
          <a:bodyPr wrap="square" lIns="0" tIns="0" rIns="0" bIns="0" anchor="t">
            <a:spAutoFit/>
          </a:bodyPr>
          <a:lstStyle/>
          <a:p>
            <a:pPr algn="l">
              <a:lnSpc>
                <a:spcPts val="2160"/>
              </a:lnSpc>
            </a:pPr>
            <a:r>
              <a:rPr sz="1350" b="0" i="0" u="none" dirty="0">
                <a:solidFill>
                  <a:srgbClr val="334155"/>
                </a:solidFill>
                <a:latin typeface="Inter"/>
              </a:rPr>
              <a:t>Trained on 14 state-years (FIPS limited)</a:t>
            </a:r>
          </a:p>
        </p:txBody>
      </p:sp>
      <p:sp>
        <p:nvSpPr>
          <p:cNvPr id="19" name="TextBox 18"/>
          <p:cNvSpPr txBox="1"/>
          <p:nvPr/>
        </p:nvSpPr>
        <p:spPr>
          <a:xfrm>
            <a:off x="4881565" y="4747599"/>
            <a:ext cx="2609850" cy="548580"/>
          </a:xfrm>
          <a:prstGeom prst="rect">
            <a:avLst/>
          </a:prstGeom>
          <a:noFill/>
        </p:spPr>
        <p:txBody>
          <a:bodyPr wrap="square" lIns="0" tIns="0" rIns="0" bIns="0" anchor="t">
            <a:spAutoFit/>
          </a:bodyPr>
          <a:lstStyle/>
          <a:p>
            <a:pPr algn="l">
              <a:lnSpc>
                <a:spcPts val="2160"/>
              </a:lnSpc>
            </a:pPr>
            <a:r>
              <a:rPr sz="1350" b="0" i="0" u="none" dirty="0">
                <a:solidFill>
                  <a:srgbClr val="7C3AED"/>
                </a:solidFill>
                <a:latin typeface="Inter SemiBold"/>
              </a:rPr>
              <a:t>Output: spatial visual embedding</a:t>
            </a:r>
          </a:p>
        </p:txBody>
      </p:sp>
      <p:pic>
        <p:nvPicPr>
          <p:cNvPr id="20" name="Picture 19" descr="image.png"/>
          <p:cNvPicPr>
            <a:picLocks noChangeAspect="1"/>
          </p:cNvPicPr>
          <p:nvPr/>
        </p:nvPicPr>
        <p:blipFill>
          <a:blip r:embed="rId8"/>
          <a:stretch>
            <a:fillRect/>
          </a:stretch>
        </p:blipFill>
        <p:spPr>
          <a:xfrm>
            <a:off x="8420100" y="1870620"/>
            <a:ext cx="428625" cy="342900"/>
          </a:xfrm>
          <a:prstGeom prst="rect">
            <a:avLst/>
          </a:prstGeom>
        </p:spPr>
      </p:pic>
      <p:sp>
        <p:nvSpPr>
          <p:cNvPr id="21" name="TextBox 20"/>
          <p:cNvSpPr txBox="1"/>
          <p:nvPr/>
        </p:nvSpPr>
        <p:spPr>
          <a:xfrm>
            <a:off x="8705850" y="2785020"/>
            <a:ext cx="26098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Combines Phase 1 + Phase 2 outputs</a:t>
            </a:r>
          </a:p>
        </p:txBody>
      </p:sp>
      <p:sp>
        <p:nvSpPr>
          <p:cNvPr id="22" name="TextBox 21"/>
          <p:cNvSpPr txBox="1"/>
          <p:nvPr/>
        </p:nvSpPr>
        <p:spPr>
          <a:xfrm>
            <a:off x="8705850" y="3466951"/>
            <a:ext cx="260985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Gate dynamically weighs inputs</a:t>
            </a:r>
          </a:p>
        </p:txBody>
      </p:sp>
      <p:sp>
        <p:nvSpPr>
          <p:cNvPr id="23" name="TextBox 22"/>
          <p:cNvSpPr txBox="1"/>
          <p:nvPr/>
        </p:nvSpPr>
        <p:spPr>
          <a:xfrm>
            <a:off x="8705850" y="3874591"/>
            <a:ext cx="26098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Two-phase training: A (frozen) → B (end-to-end)</a:t>
            </a:r>
          </a:p>
        </p:txBody>
      </p:sp>
      <p:sp>
        <p:nvSpPr>
          <p:cNvPr id="24" name="TextBox 23"/>
          <p:cNvSpPr txBox="1"/>
          <p:nvPr/>
        </p:nvSpPr>
        <p:spPr>
          <a:xfrm>
            <a:off x="8705850" y="4556521"/>
            <a:ext cx="260985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~255K total parameters</a:t>
            </a:r>
          </a:p>
        </p:txBody>
      </p:sp>
      <p:sp>
        <p:nvSpPr>
          <p:cNvPr id="25" name="TextBox 24"/>
          <p:cNvSpPr txBox="1"/>
          <p:nvPr/>
        </p:nvSpPr>
        <p:spPr>
          <a:xfrm>
            <a:off x="876300" y="2746920"/>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6" name="TextBox 25"/>
          <p:cNvSpPr txBox="1"/>
          <p:nvPr/>
        </p:nvSpPr>
        <p:spPr>
          <a:xfrm>
            <a:off x="876300" y="342885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7" name="TextBox 26"/>
          <p:cNvSpPr txBox="1"/>
          <p:nvPr/>
        </p:nvSpPr>
        <p:spPr>
          <a:xfrm>
            <a:off x="876300" y="383649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8" name="TextBox 27"/>
          <p:cNvSpPr txBox="1"/>
          <p:nvPr/>
        </p:nvSpPr>
        <p:spPr>
          <a:xfrm>
            <a:off x="876300" y="451842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9" name="TextBox 28"/>
          <p:cNvSpPr txBox="1"/>
          <p:nvPr/>
        </p:nvSpPr>
        <p:spPr>
          <a:xfrm>
            <a:off x="4648200" y="2746920"/>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1" name="TextBox 30"/>
          <p:cNvSpPr txBox="1"/>
          <p:nvPr/>
        </p:nvSpPr>
        <p:spPr>
          <a:xfrm>
            <a:off x="4629152" y="3447826"/>
            <a:ext cx="104775" cy="361950"/>
          </a:xfrm>
          <a:prstGeom prst="rect">
            <a:avLst/>
          </a:prstGeom>
          <a:noFill/>
        </p:spPr>
        <p:txBody>
          <a:bodyPr wrap="square" lIns="0" tIns="0" rIns="0" bIns="0" anchor="t">
            <a:spAutoFit/>
          </a:bodyPr>
          <a:lstStyle/>
          <a:p>
            <a:pPr algn="l">
              <a:lnSpc>
                <a:spcPts val="2879"/>
              </a:lnSpc>
            </a:pPr>
            <a:r>
              <a:rPr sz="1800" b="1" i="0" u="none" dirty="0">
                <a:solidFill>
                  <a:srgbClr val="10B981"/>
                </a:solidFill>
                <a:latin typeface="Inter"/>
              </a:rPr>
              <a:t>•</a:t>
            </a:r>
          </a:p>
        </p:txBody>
      </p:sp>
      <p:sp>
        <p:nvSpPr>
          <p:cNvPr id="32" name="TextBox 31"/>
          <p:cNvSpPr txBox="1"/>
          <p:nvPr/>
        </p:nvSpPr>
        <p:spPr>
          <a:xfrm>
            <a:off x="4605337" y="4061221"/>
            <a:ext cx="104775" cy="361950"/>
          </a:xfrm>
          <a:prstGeom prst="rect">
            <a:avLst/>
          </a:prstGeom>
          <a:noFill/>
        </p:spPr>
        <p:txBody>
          <a:bodyPr wrap="square" lIns="0" tIns="0" rIns="0" bIns="0" anchor="t">
            <a:spAutoFit/>
          </a:bodyPr>
          <a:lstStyle/>
          <a:p>
            <a:pPr algn="l">
              <a:lnSpc>
                <a:spcPts val="2879"/>
              </a:lnSpc>
            </a:pPr>
            <a:r>
              <a:rPr sz="1800" b="1" i="0" u="none" dirty="0">
                <a:solidFill>
                  <a:srgbClr val="10B981"/>
                </a:solidFill>
                <a:latin typeface="Inter"/>
              </a:rPr>
              <a:t>•</a:t>
            </a:r>
          </a:p>
        </p:txBody>
      </p:sp>
      <p:sp>
        <p:nvSpPr>
          <p:cNvPr id="33" name="TextBox 32"/>
          <p:cNvSpPr txBox="1"/>
          <p:nvPr/>
        </p:nvSpPr>
        <p:spPr>
          <a:xfrm>
            <a:off x="4629150" y="4734593"/>
            <a:ext cx="104775" cy="361950"/>
          </a:xfrm>
          <a:prstGeom prst="rect">
            <a:avLst/>
          </a:prstGeom>
          <a:noFill/>
        </p:spPr>
        <p:txBody>
          <a:bodyPr wrap="square" lIns="0" tIns="0" rIns="0" bIns="0" anchor="t">
            <a:spAutoFit/>
          </a:bodyPr>
          <a:lstStyle/>
          <a:p>
            <a:pPr algn="l">
              <a:lnSpc>
                <a:spcPts val="2879"/>
              </a:lnSpc>
            </a:pPr>
            <a:r>
              <a:rPr sz="1800" b="1" i="0" u="none" dirty="0">
                <a:solidFill>
                  <a:srgbClr val="10B981"/>
                </a:solidFill>
                <a:latin typeface="Inter"/>
              </a:rPr>
              <a:t>•</a:t>
            </a:r>
          </a:p>
        </p:txBody>
      </p:sp>
      <p:sp>
        <p:nvSpPr>
          <p:cNvPr id="34" name="TextBox 33"/>
          <p:cNvSpPr txBox="1"/>
          <p:nvPr/>
        </p:nvSpPr>
        <p:spPr>
          <a:xfrm>
            <a:off x="8420100" y="2746920"/>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5" name="TextBox 34"/>
          <p:cNvSpPr txBox="1"/>
          <p:nvPr/>
        </p:nvSpPr>
        <p:spPr>
          <a:xfrm>
            <a:off x="8420100" y="342885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6" name="TextBox 35"/>
          <p:cNvSpPr txBox="1"/>
          <p:nvPr/>
        </p:nvSpPr>
        <p:spPr>
          <a:xfrm>
            <a:off x="8420100" y="383649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7" name="TextBox 36"/>
          <p:cNvSpPr txBox="1"/>
          <p:nvPr/>
        </p:nvSpPr>
        <p:spPr>
          <a:xfrm>
            <a:off x="8420100" y="451842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8" name="TextBox 37"/>
          <p:cNvSpPr txBox="1"/>
          <p:nvPr/>
        </p:nvSpPr>
        <p:spPr>
          <a:xfrm>
            <a:off x="581025" y="581025"/>
            <a:ext cx="11581447" cy="499020"/>
          </a:xfrm>
          <a:prstGeom prst="rect">
            <a:avLst/>
          </a:prstGeom>
          <a:noFill/>
        </p:spPr>
        <p:txBody>
          <a:bodyPr wrap="square" lIns="0" tIns="0" rIns="0" bIns="0" anchor="t">
            <a:spAutoFit/>
          </a:bodyPr>
          <a:lstStyle/>
          <a:p>
            <a:pPr algn="l">
              <a:lnSpc>
                <a:spcPts val="3779"/>
              </a:lnSpc>
            </a:pPr>
            <a:r>
              <a:rPr sz="3150" b="1" i="0" u="none">
                <a:solidFill>
                  <a:srgbClr val="0F172A"/>
                </a:solidFill>
                <a:latin typeface="Inter"/>
              </a:rPr>
              <a:t>System Architecture: </a:t>
            </a:r>
            <a:r>
              <a:rPr sz="3150" b="1" i="0" u="none">
                <a:solidFill>
                  <a:srgbClr val="2563EB"/>
                </a:solidFill>
                <a:latin typeface="Inter"/>
              </a:rPr>
              <a:t>3 Training Phases</a:t>
            </a:r>
          </a:p>
        </p:txBody>
      </p:sp>
      <p:sp>
        <p:nvSpPr>
          <p:cNvPr id="39" name="Rectangle 38"/>
          <p:cNvSpPr/>
          <p:nvPr/>
        </p:nvSpPr>
        <p:spPr>
          <a:xfrm>
            <a:off x="581025" y="1203870"/>
            <a:ext cx="1102995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2005012"/>
            <a:ext cx="5286375" cy="3333750"/>
          </a:xfrm>
          <a:prstGeom prst="rect">
            <a:avLst/>
          </a:prstGeom>
        </p:spPr>
      </p:pic>
      <p:sp>
        <p:nvSpPr>
          <p:cNvPr id="4" name="TextBox 3"/>
          <p:cNvSpPr txBox="1"/>
          <p:nvPr/>
        </p:nvSpPr>
        <p:spPr>
          <a:xfrm>
            <a:off x="571500" y="2005012"/>
            <a:ext cx="5286375" cy="1195135"/>
          </a:xfrm>
          <a:prstGeom prst="rect">
            <a:avLst/>
          </a:prstGeom>
          <a:noFill/>
        </p:spPr>
        <p:txBody>
          <a:bodyPr wrap="square" lIns="0" tIns="0" rIns="0" bIns="0" anchor="t">
            <a:spAutoFit/>
          </a:bodyPr>
          <a:lstStyle/>
          <a:p>
            <a:pPr algn="l">
              <a:lnSpc>
                <a:spcPts val="2400"/>
              </a:lnSpc>
            </a:pPr>
            <a:r>
              <a:rPr sz="1500" b="0" i="0" u="none" dirty="0">
                <a:solidFill>
                  <a:srgbClr val="475569"/>
                </a:solidFill>
                <a:latin typeface="Lato"/>
              </a:rPr>
              <a:t>The solution was </a:t>
            </a:r>
            <a:r>
              <a:rPr lang="en-IN" sz="1500" b="0" i="0" u="none" dirty="0">
                <a:solidFill>
                  <a:srgbClr val="475569"/>
                </a:solidFill>
                <a:latin typeface="Lato"/>
              </a:rPr>
              <a:t>implemented</a:t>
            </a:r>
            <a:r>
              <a:rPr sz="1500" b="0" i="0" u="none" dirty="0">
                <a:solidFill>
                  <a:srgbClr val="475569"/>
                </a:solidFill>
                <a:latin typeface="Lato"/>
              </a:rPr>
              <a:t> as a modular, scalable software </a:t>
            </a:r>
            <a:r>
              <a:rPr lang="en-IN" sz="1500" b="0" i="0" u="none" dirty="0">
                <a:solidFill>
                  <a:srgbClr val="475569"/>
                </a:solidFill>
                <a:latin typeface="Lato"/>
              </a:rPr>
              <a:t>notebook that can be converted to pipeline</a:t>
            </a:r>
            <a:r>
              <a:rPr sz="1500" b="0" i="0" u="none" dirty="0">
                <a:solidFill>
                  <a:srgbClr val="475569"/>
                </a:solidFill>
                <a:latin typeface="Lato"/>
              </a:rPr>
              <a:t>, ensuring reproducibility and readiness for operational agricultural dashboards.</a:t>
            </a:r>
          </a:p>
        </p:txBody>
      </p:sp>
      <p:sp>
        <p:nvSpPr>
          <p:cNvPr id="5" name="TextBox 4"/>
          <p:cNvSpPr txBox="1"/>
          <p:nvPr/>
        </p:nvSpPr>
        <p:spPr>
          <a:xfrm>
            <a:off x="695325" y="3062287"/>
            <a:ext cx="114300" cy="304800"/>
          </a:xfrm>
          <a:prstGeom prst="rect">
            <a:avLst/>
          </a:prstGeom>
          <a:noFill/>
        </p:spPr>
        <p:txBody>
          <a:bodyPr wrap="square" lIns="0" tIns="0" rIns="0" bIns="0" anchor="t">
            <a:spAutoFit/>
          </a:bodyPr>
          <a:lstStyle/>
          <a:p>
            <a:pPr algn="l"/>
            <a:r>
              <a:rPr sz="1500" b="0" i="0" u="none" dirty="0">
                <a:solidFill>
                  <a:srgbClr val="475569"/>
                </a:solidFill>
                <a:latin typeface="Lato"/>
              </a:rPr>
              <a:t>•</a:t>
            </a:r>
          </a:p>
        </p:txBody>
      </p:sp>
      <p:sp>
        <p:nvSpPr>
          <p:cNvPr id="6" name="TextBox 5"/>
          <p:cNvSpPr txBox="1"/>
          <p:nvPr/>
        </p:nvSpPr>
        <p:spPr>
          <a:xfrm>
            <a:off x="809625" y="3062287"/>
            <a:ext cx="5048250" cy="914400"/>
          </a:xfrm>
          <a:prstGeom prst="rect">
            <a:avLst/>
          </a:prstGeom>
          <a:noFill/>
        </p:spPr>
        <p:txBody>
          <a:bodyPr wrap="square" lIns="114300" tIns="0" rIns="0" bIns="0" anchor="t">
            <a:spAutoFit/>
          </a:bodyPr>
          <a:lstStyle/>
          <a:p>
            <a:pPr algn="l">
              <a:lnSpc>
                <a:spcPts val="2400"/>
              </a:lnSpc>
            </a:pPr>
            <a:r>
              <a:rPr sz="1500" b="1" i="0" u="none" dirty="0">
                <a:solidFill>
                  <a:srgbClr val="475569"/>
                </a:solidFill>
                <a:latin typeface="Lato"/>
              </a:rPr>
              <a:t>Framework:</a:t>
            </a:r>
            <a:r>
              <a:rPr sz="1500" b="0" i="0" u="none" dirty="0">
                <a:solidFill>
                  <a:srgbClr val="475569"/>
                </a:solidFill>
                <a:latin typeface="Lato"/>
              </a:rPr>
              <a:t> Built on </a:t>
            </a:r>
            <a:r>
              <a:rPr sz="1500" b="0" i="0" u="none" dirty="0" err="1">
                <a:solidFill>
                  <a:srgbClr val="475569"/>
                </a:solidFill>
                <a:latin typeface="Lato"/>
              </a:rPr>
              <a:t>PyTorch</a:t>
            </a:r>
            <a:r>
              <a:rPr sz="1500" b="0" i="0" u="none" dirty="0">
                <a:solidFill>
                  <a:srgbClr val="475569"/>
                </a:solidFill>
                <a:latin typeface="Lato"/>
              </a:rPr>
              <a:t> Lightning to decouple the complex multimodal research code from standard training loops.</a:t>
            </a:r>
          </a:p>
        </p:txBody>
      </p:sp>
      <p:sp>
        <p:nvSpPr>
          <p:cNvPr id="7" name="TextBox 6"/>
          <p:cNvSpPr txBox="1"/>
          <p:nvPr/>
        </p:nvSpPr>
        <p:spPr>
          <a:xfrm>
            <a:off x="695325" y="4119562"/>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8" name="TextBox 7"/>
          <p:cNvSpPr txBox="1"/>
          <p:nvPr/>
        </p:nvSpPr>
        <p:spPr>
          <a:xfrm>
            <a:off x="809625" y="4119562"/>
            <a:ext cx="5048250" cy="609600"/>
          </a:xfrm>
          <a:prstGeom prst="rect">
            <a:avLst/>
          </a:prstGeom>
          <a:noFill/>
        </p:spPr>
        <p:txBody>
          <a:bodyPr wrap="square" lIns="114300" tIns="0" rIns="0" bIns="0" anchor="t">
            <a:spAutoFit/>
          </a:bodyPr>
          <a:lstStyle/>
          <a:p>
            <a:pPr algn="l">
              <a:lnSpc>
                <a:spcPts val="2400"/>
              </a:lnSpc>
            </a:pPr>
            <a:r>
              <a:rPr sz="1500" b="1" i="0" u="none" dirty="0">
                <a:solidFill>
                  <a:srgbClr val="475569"/>
                </a:solidFill>
                <a:latin typeface="Lato"/>
              </a:rPr>
              <a:t>Data Loaders:</a:t>
            </a:r>
            <a:r>
              <a:rPr sz="1500" b="0" i="0" u="none" dirty="0">
                <a:solidFill>
                  <a:srgbClr val="475569"/>
                </a:solidFill>
                <a:latin typeface="Lato"/>
              </a:rPr>
              <a:t> Custom ingestion engines to handle disparate shapes (1D weather time-series vs 3D spatial sequences).</a:t>
            </a:r>
          </a:p>
        </p:txBody>
      </p:sp>
      <p:sp>
        <p:nvSpPr>
          <p:cNvPr id="9" name="TextBox 8"/>
          <p:cNvSpPr txBox="1"/>
          <p:nvPr/>
        </p:nvSpPr>
        <p:spPr>
          <a:xfrm>
            <a:off x="695325" y="4872037"/>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10" name="TextBox 9"/>
          <p:cNvSpPr txBox="1"/>
          <p:nvPr/>
        </p:nvSpPr>
        <p:spPr>
          <a:xfrm>
            <a:off x="809625" y="4872037"/>
            <a:ext cx="5048250" cy="914400"/>
          </a:xfrm>
          <a:prstGeom prst="rect">
            <a:avLst/>
          </a:prstGeom>
          <a:noFill/>
        </p:spPr>
        <p:txBody>
          <a:bodyPr wrap="square" lIns="114300" tIns="0" rIns="0" bIns="0" anchor="t">
            <a:spAutoFit/>
          </a:bodyPr>
          <a:lstStyle/>
          <a:p>
            <a:pPr algn="l">
              <a:lnSpc>
                <a:spcPts val="2400"/>
              </a:lnSpc>
            </a:pPr>
            <a:r>
              <a:rPr sz="1500" b="1" i="0" u="none">
                <a:solidFill>
                  <a:srgbClr val="475569"/>
                </a:solidFill>
                <a:latin typeface="Lato"/>
              </a:rPr>
              <a:t>Inference Pipeline:</a:t>
            </a:r>
            <a:r>
              <a:rPr sz="1500" b="0" i="0" u="none">
                <a:solidFill>
                  <a:srgbClr val="475569"/>
                </a:solidFill>
                <a:latin typeface="Lato"/>
              </a:rPr>
              <a:t> Automated inverse log-transformations using Jensen's inequality to yield human-readable BU/ACRE metrics.</a:t>
            </a:r>
          </a:p>
        </p:txBody>
      </p:sp>
      <p:pic>
        <p:nvPicPr>
          <p:cNvPr id="11" name="Picture 10" descr="image.png"/>
          <p:cNvPicPr>
            <a:picLocks noChangeAspect="1"/>
          </p:cNvPicPr>
          <p:nvPr/>
        </p:nvPicPr>
        <p:blipFill>
          <a:blip r:embed="rId4"/>
          <a:stretch>
            <a:fillRect/>
          </a:stretch>
        </p:blipFill>
        <p:spPr>
          <a:xfrm>
            <a:off x="6334125" y="2005012"/>
            <a:ext cx="5286375" cy="3333750"/>
          </a:xfrm>
          <a:prstGeom prst="rect">
            <a:avLst/>
          </a:prstGeom>
        </p:spPr>
      </p:pic>
      <p:sp>
        <p:nvSpPr>
          <p:cNvPr id="12" name="TextBox 11"/>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Software Solution &amp; Implementation</a:t>
            </a:r>
          </a:p>
        </p:txBody>
      </p:sp>
      <p:sp>
        <p:nvSpPr>
          <p:cNvPr id="13" name="Rectangle 12"/>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647825"/>
            <a:ext cx="11049000" cy="4638675"/>
          </a:xfrm>
          <a:prstGeom prst="rect">
            <a:avLst/>
          </a:prstGeom>
        </p:spPr>
      </p:pic>
      <p:sp>
        <p:nvSpPr>
          <p:cNvPr id="4" name="TextBox 3"/>
          <p:cNvSpPr txBox="1"/>
          <p:nvPr/>
        </p:nvSpPr>
        <p:spPr>
          <a:xfrm>
            <a:off x="1123950" y="5138737"/>
            <a:ext cx="9944100" cy="609600"/>
          </a:xfrm>
          <a:prstGeom prst="rect">
            <a:avLst/>
          </a:prstGeom>
          <a:noFill/>
        </p:spPr>
        <p:txBody>
          <a:bodyPr wrap="square" lIns="0" tIns="0" rIns="0" bIns="0" anchor="t">
            <a:spAutoFit/>
          </a:bodyPr>
          <a:lstStyle/>
          <a:p>
            <a:pPr algn="ctr">
              <a:lnSpc>
                <a:spcPts val="2400"/>
              </a:lnSpc>
            </a:pPr>
            <a:r>
              <a:rPr sz="1500" b="0" i="1" u="none">
                <a:solidFill>
                  <a:srgbClr val="475569"/>
                </a:solidFill>
                <a:latin typeface="Lato"/>
              </a:rPr>
              <a:t>Evaluation on LOSO 2022 state-aggregate holdout. The GMU achieved the lowest RMSE. Notably, Late Fusion collapsed entirely to the Weather-only baseline, proving it cannot recover from weak optical encoders.</a:t>
            </a:r>
          </a:p>
        </p:txBody>
      </p:sp>
      <p:sp>
        <p:nvSpPr>
          <p:cNvPr id="5" name="TextBox 4"/>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Results: Baseline vs. Fusion Models</a:t>
            </a:r>
          </a:p>
        </p:txBody>
      </p:sp>
      <p:sp>
        <p:nvSpPr>
          <p:cNvPr id="6" name="Rectangle 5"/>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571500" y="1633537"/>
            <a:ext cx="11049000" cy="3048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The models were subjected to simulated sensor failures. A key finding was the autonomous adjustment of the GMU's gate ( ).</a:t>
            </a:r>
          </a:p>
        </p:txBody>
      </p:sp>
      <p:sp>
        <p:nvSpPr>
          <p:cNvPr id="4" name="TextBox 3"/>
          <p:cNvSpPr txBox="1"/>
          <p:nvPr/>
        </p:nvSpPr>
        <p:spPr>
          <a:xfrm>
            <a:off x="714375" y="5853112"/>
            <a:ext cx="10763250" cy="3048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*Complete satellite removal produced extreme OOD embeddings, indicating a need for a binary availability safeguard at deployment.</a:t>
            </a:r>
          </a:p>
        </p:txBody>
      </p:sp>
      <p:pic>
        <p:nvPicPr>
          <p:cNvPr id="5" name="Picture 4" descr="image.png"/>
          <p:cNvPicPr>
            <a:picLocks noChangeAspect="1"/>
          </p:cNvPicPr>
          <p:nvPr/>
        </p:nvPicPr>
        <p:blipFill>
          <a:blip r:embed="rId4"/>
          <a:stretch>
            <a:fillRect/>
          </a:stretch>
        </p:blipFill>
        <p:spPr>
          <a:xfrm>
            <a:off x="10572750" y="1766887"/>
            <a:ext cx="84683" cy="95250"/>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767703322"/>
              </p:ext>
            </p:extLst>
          </p:nvPr>
        </p:nvGraphicFramePr>
        <p:xfrm>
          <a:off x="571500" y="2128837"/>
          <a:ext cx="11048998" cy="3533775"/>
        </p:xfrm>
        <a:graphic>
          <a:graphicData uri="http://schemas.openxmlformats.org/drawingml/2006/table">
            <a:tbl>
              <a:tblPr firstRow="1" bandRow="1">
                <a:tableStyleId>{5C22544A-7EE6-4342-B048-85BDC9FD1C3A}</a:tableStyleId>
              </a:tblPr>
              <a:tblGrid>
                <a:gridCol w="2294780">
                  <a:extLst>
                    <a:ext uri="{9D8B030D-6E8A-4147-A177-3AD203B41FA5}">
                      <a16:colId xmlns:a16="http://schemas.microsoft.com/office/drawing/2014/main" val="20000"/>
                    </a:ext>
                  </a:extLst>
                </a:gridCol>
                <a:gridCol w="1623566">
                  <a:extLst>
                    <a:ext uri="{9D8B030D-6E8A-4147-A177-3AD203B41FA5}">
                      <a16:colId xmlns:a16="http://schemas.microsoft.com/office/drawing/2014/main" val="20001"/>
                    </a:ext>
                  </a:extLst>
                </a:gridCol>
                <a:gridCol w="1888331">
                  <a:extLst>
                    <a:ext uri="{9D8B030D-6E8A-4147-A177-3AD203B41FA5}">
                      <a16:colId xmlns:a16="http://schemas.microsoft.com/office/drawing/2014/main" val="20002"/>
                    </a:ext>
                  </a:extLst>
                </a:gridCol>
                <a:gridCol w="5242321">
                  <a:extLst>
                    <a:ext uri="{9D8B030D-6E8A-4147-A177-3AD203B41FA5}">
                      <a16:colId xmlns:a16="http://schemas.microsoft.com/office/drawing/2014/main" val="20003"/>
                    </a:ext>
                  </a:extLst>
                </a:gridCol>
              </a:tblGrid>
              <a:tr h="883443">
                <a:tc>
                  <a:txBody>
                    <a:bodyPr/>
                    <a:lstStyle/>
                    <a:p>
                      <a:pPr algn="l"/>
                      <a:r>
                        <a:rPr sz="1500" b="1" i="0" u="none">
                          <a:solidFill>
                            <a:srgbClr val="0F172A"/>
                          </a:solidFill>
                          <a:latin typeface="Poppins"/>
                        </a:rPr>
                        <a:t>Modality Status</a:t>
                      </a:r>
                    </a:p>
                  </a:txBody>
                  <a:tcPr marL="63500" marR="63500" marT="25400" marB="25400" anchor="ctr">
                    <a:lnL>
                      <a:noFill/>
                    </a:lnL>
                    <a:lnR>
                      <a:noFill/>
                    </a:lnR>
                    <a:lnT>
                      <a:noFill/>
                    </a:lnT>
                    <a:lnB>
                      <a:noFill/>
                    </a:lnB>
                    <a:solidFill>
                      <a:srgbClr val="F8FAFC"/>
                    </a:solidFill>
                  </a:tcPr>
                </a:tc>
                <a:tc>
                  <a:txBody>
                    <a:bodyPr/>
                    <a:lstStyle/>
                    <a:p>
                      <a:pPr algn="l"/>
                      <a:r>
                        <a:rPr sz="1500" b="1" i="0" u="none">
                          <a:solidFill>
                            <a:srgbClr val="0F172A"/>
                          </a:solidFill>
                          <a:latin typeface="Poppins"/>
                        </a:rPr>
                        <a:t>Gate (z) Value</a:t>
                      </a:r>
                    </a:p>
                  </a:txBody>
                  <a:tcPr marL="63500" marR="63500" marT="25400" marB="25400" anchor="ctr">
                    <a:lnL>
                      <a:noFill/>
                    </a:lnL>
                    <a:lnR>
                      <a:noFill/>
                    </a:lnR>
                    <a:lnT>
                      <a:noFill/>
                    </a:lnT>
                    <a:lnB>
                      <a:noFill/>
                    </a:lnB>
                    <a:solidFill>
                      <a:srgbClr val="F8FAFC"/>
                    </a:solidFill>
                  </a:tcPr>
                </a:tc>
                <a:tc>
                  <a:txBody>
                    <a:bodyPr/>
                    <a:lstStyle/>
                    <a:p>
                      <a:pPr algn="l"/>
                      <a:r>
                        <a:rPr sz="1500" b="1" i="0" u="none">
                          <a:solidFill>
                            <a:srgbClr val="0F172A"/>
                          </a:solidFill>
                          <a:latin typeface="Poppins"/>
                        </a:rPr>
                        <a:t>RMSE (BU/ACRE)</a:t>
                      </a:r>
                    </a:p>
                  </a:txBody>
                  <a:tcPr marL="63500" marR="63500" marT="25400" marB="25400" anchor="ctr">
                    <a:lnL>
                      <a:noFill/>
                    </a:lnL>
                    <a:lnR>
                      <a:noFill/>
                    </a:lnR>
                    <a:lnT>
                      <a:noFill/>
                    </a:lnT>
                    <a:lnB>
                      <a:noFill/>
                    </a:lnB>
                    <a:solidFill>
                      <a:srgbClr val="F8FAFC"/>
                    </a:solidFill>
                  </a:tcPr>
                </a:tc>
                <a:tc>
                  <a:txBody>
                    <a:bodyPr/>
                    <a:lstStyle/>
                    <a:p>
                      <a:pPr algn="l"/>
                      <a:r>
                        <a:rPr sz="1500" b="1" i="0" u="none">
                          <a:solidFill>
                            <a:srgbClr val="0F172A"/>
                          </a:solidFill>
                          <a:latin typeface="Poppins"/>
                        </a:rPr>
                        <a:t>System Response</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0"/>
                  </a:ext>
                </a:extLst>
              </a:tr>
              <a:tr h="883443">
                <a:tc>
                  <a:txBody>
                    <a:bodyPr/>
                    <a:lstStyle/>
                    <a:p>
                      <a:pPr algn="l"/>
                      <a:r>
                        <a:rPr sz="1500" b="0" i="0" u="none">
                          <a:solidFill>
                            <a:srgbClr val="475569"/>
                          </a:solidFill>
                          <a:latin typeface="Lato"/>
                        </a:rPr>
                        <a:t>Normal (Full Modality)</a:t>
                      </a:r>
                    </a:p>
                  </a:txBody>
                  <a:tcPr marL="63500" marR="63500" marT="25400" marB="25400" anchor="ctr">
                    <a:lnL>
                      <a:noFill/>
                    </a:lnL>
                    <a:lnR>
                      <a:noFill/>
                    </a:lnR>
                    <a:lnT>
                      <a:noFill/>
                    </a:lnT>
                    <a:lnB>
                      <a:noFill/>
                    </a:lnB>
                    <a:noFill/>
                  </a:tcPr>
                </a:tc>
                <a:tc>
                  <a:txBody>
                    <a:bodyPr/>
                    <a:lstStyle/>
                    <a:p>
                      <a:pPr algn="l"/>
                      <a:r>
                        <a:rPr sz="1500" b="0" i="0" u="none">
                          <a:solidFill>
                            <a:srgbClr val="475569"/>
                          </a:solidFill>
                          <a:latin typeface="Lato"/>
                        </a:rPr>
                        <a:t>0.575</a:t>
                      </a:r>
                    </a:p>
                  </a:txBody>
                  <a:tcPr marL="63500" marR="63500" marT="25400" marB="25400" anchor="ctr">
                    <a:lnL>
                      <a:noFill/>
                    </a:lnL>
                    <a:lnR>
                      <a:noFill/>
                    </a:lnR>
                    <a:lnT>
                      <a:noFill/>
                    </a:lnT>
                    <a:lnB>
                      <a:noFill/>
                    </a:lnB>
                    <a:noFill/>
                  </a:tcPr>
                </a:tc>
                <a:tc>
                  <a:txBody>
                    <a:bodyPr/>
                    <a:lstStyle/>
                    <a:p>
                      <a:pPr algn="l"/>
                      <a:r>
                        <a:rPr sz="1500" b="1" i="0" u="none">
                          <a:solidFill>
                            <a:srgbClr val="10B981"/>
                          </a:solidFill>
                          <a:latin typeface="Lato"/>
                        </a:rPr>
                        <a:t>5.08</a:t>
                      </a:r>
                    </a:p>
                  </a:txBody>
                  <a:tcPr marL="63500" marR="63500" marT="25400" marB="25400" anchor="ctr">
                    <a:lnL>
                      <a:noFill/>
                    </a:lnL>
                    <a:lnR>
                      <a:noFill/>
                    </a:lnR>
                    <a:lnT>
                      <a:noFill/>
                    </a:lnT>
                    <a:lnB>
                      <a:noFill/>
                    </a:lnB>
                    <a:noFill/>
                  </a:tcPr>
                </a:tc>
                <a:tc>
                  <a:txBody>
                    <a:bodyPr/>
                    <a:lstStyle/>
                    <a:p>
                      <a:pPr algn="l"/>
                      <a:r>
                        <a:rPr sz="1500" b="0" i="0" u="none">
                          <a:solidFill>
                            <a:srgbClr val="475569"/>
                          </a:solidFill>
                          <a:latin typeface="Lato"/>
                        </a:rPr>
                        <a:t>Balanced multimodal feature extraction.</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883443">
                <a:tc>
                  <a:txBody>
                    <a:bodyPr/>
                    <a:lstStyle/>
                    <a:p>
                      <a:pPr algn="l"/>
                      <a:r>
                        <a:rPr sz="1500" b="0" i="0" u="none">
                          <a:solidFill>
                            <a:srgbClr val="475569"/>
                          </a:solidFill>
                          <a:latin typeface="Lato"/>
                        </a:rPr>
                        <a:t>Weather Dropout</a:t>
                      </a:r>
                    </a:p>
                  </a:txBody>
                  <a:tcPr marL="63500" marR="63500" marT="25400" marB="25400" anchor="ctr">
                    <a:lnL>
                      <a:noFill/>
                    </a:lnL>
                    <a:lnR>
                      <a:noFill/>
                    </a:lnR>
                    <a:lnT>
                      <a:noFill/>
                    </a:lnT>
                    <a:lnB>
                      <a:noFill/>
                    </a:lnB>
                    <a:noFill/>
                  </a:tcPr>
                </a:tc>
                <a:tc>
                  <a:txBody>
                    <a:bodyPr/>
                    <a:lstStyle/>
                    <a:p>
                      <a:pPr algn="l"/>
                      <a:r>
                        <a:rPr sz="1500" b="0" i="0" u="none" dirty="0">
                          <a:solidFill>
                            <a:srgbClr val="475569"/>
                          </a:solidFill>
                          <a:latin typeface="Lato"/>
                        </a:rPr>
                        <a:t>0.</a:t>
                      </a:r>
                      <a:r>
                        <a:rPr lang="en-IN" sz="1500" b="0" i="0" u="none" dirty="0">
                          <a:solidFill>
                            <a:srgbClr val="475569"/>
                          </a:solidFill>
                          <a:latin typeface="Lato"/>
                        </a:rPr>
                        <a:t>576</a:t>
                      </a:r>
                      <a:endParaRPr sz="1500" b="0" i="0" u="none" dirty="0">
                        <a:solidFill>
                          <a:srgbClr val="475569"/>
                        </a:solidFill>
                        <a:latin typeface="Lato"/>
                      </a:endParaRPr>
                    </a:p>
                  </a:txBody>
                  <a:tcPr marL="63500" marR="63500" marT="25400" marB="25400" anchor="ctr">
                    <a:lnL>
                      <a:noFill/>
                    </a:lnL>
                    <a:lnR>
                      <a:noFill/>
                    </a:lnR>
                    <a:lnT>
                      <a:noFill/>
                    </a:lnT>
                    <a:lnB>
                      <a:noFill/>
                    </a:lnB>
                    <a:noFill/>
                  </a:tcPr>
                </a:tc>
                <a:tc>
                  <a:txBody>
                    <a:bodyPr/>
                    <a:lstStyle/>
                    <a:p>
                      <a:pPr algn="l"/>
                      <a:r>
                        <a:rPr sz="1500" b="1" i="0" u="none" dirty="0">
                          <a:solidFill>
                            <a:srgbClr val="F59E0B"/>
                          </a:solidFill>
                          <a:latin typeface="Lato"/>
                        </a:rPr>
                        <a:t>12.29</a:t>
                      </a:r>
                    </a:p>
                  </a:txBody>
                  <a:tcPr marL="63500" marR="63500" marT="25400" marB="25400" anchor="ctr">
                    <a:lnL>
                      <a:noFill/>
                    </a:lnL>
                    <a:lnR>
                      <a:noFill/>
                    </a:lnR>
                    <a:lnT>
                      <a:noFill/>
                    </a:lnT>
                    <a:lnB>
                      <a:noFill/>
                    </a:lnB>
                    <a:noFill/>
                  </a:tcPr>
                </a:tc>
                <a:tc>
                  <a:txBody>
                    <a:bodyPr/>
                    <a:lstStyle/>
                    <a:p>
                      <a:pPr algn="l"/>
                      <a:r>
                        <a:rPr sz="1500" b="0" i="0" u="none" dirty="0">
                          <a:solidFill>
                            <a:srgbClr val="475569"/>
                          </a:solidFill>
                          <a:latin typeface="Lato"/>
                        </a:rPr>
                        <a:t>Routes towards Satellite; degrades due to spatial noise.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r h="883446">
                <a:tc>
                  <a:txBody>
                    <a:bodyPr/>
                    <a:lstStyle/>
                    <a:p>
                      <a:pPr algn="l"/>
                      <a:r>
                        <a:rPr sz="1500" b="0" i="0" u="none">
                          <a:solidFill>
                            <a:srgbClr val="475569"/>
                          </a:solidFill>
                          <a:latin typeface="Lato"/>
                        </a:rPr>
                        <a:t>Satellite Dropout (Clouded)</a:t>
                      </a:r>
                    </a:p>
                  </a:txBody>
                  <a:tcPr marL="63500" marR="63500" marT="25400" marB="25400" anchor="ctr">
                    <a:lnL>
                      <a:noFill/>
                    </a:lnL>
                    <a:lnR>
                      <a:noFill/>
                    </a:lnR>
                    <a:lnT>
                      <a:noFill/>
                    </a:lnT>
                    <a:lnB>
                      <a:noFill/>
                    </a:lnB>
                    <a:noFill/>
                  </a:tcPr>
                </a:tc>
                <a:tc>
                  <a:txBody>
                    <a:bodyPr/>
                    <a:lstStyle/>
                    <a:p>
                      <a:pPr algn="l"/>
                      <a:r>
                        <a:rPr sz="1500" b="0" i="0" u="none">
                          <a:solidFill>
                            <a:srgbClr val="475569"/>
                          </a:solidFill>
                          <a:latin typeface="Lato"/>
                        </a:rPr>
                        <a:t>0.621</a:t>
                      </a:r>
                    </a:p>
                  </a:txBody>
                  <a:tcPr marL="63500" marR="63500" marT="25400" marB="25400" anchor="ctr">
                    <a:lnL>
                      <a:noFill/>
                    </a:lnL>
                    <a:lnR>
                      <a:noFill/>
                    </a:lnR>
                    <a:lnT>
                      <a:noFill/>
                    </a:lnT>
                    <a:lnB>
                      <a:noFill/>
                    </a:lnB>
                    <a:noFill/>
                  </a:tcPr>
                </a:tc>
                <a:tc>
                  <a:txBody>
                    <a:bodyPr/>
                    <a:lstStyle/>
                    <a:p>
                      <a:pPr algn="l"/>
                      <a:r>
                        <a:rPr sz="1500" b="1" i="0" u="none">
                          <a:solidFill>
                            <a:srgbClr val="EF4444"/>
                          </a:solidFill>
                          <a:latin typeface="Lato"/>
                        </a:rPr>
                        <a:t>Out of Distribution</a:t>
                      </a:r>
                    </a:p>
                  </a:txBody>
                  <a:tcPr marL="63500" marR="63500" marT="25400" marB="25400" anchor="ctr">
                    <a:lnL>
                      <a:noFill/>
                    </a:lnL>
                    <a:lnR>
                      <a:noFill/>
                    </a:lnR>
                    <a:lnT>
                      <a:noFill/>
                    </a:lnT>
                    <a:lnB>
                      <a:noFill/>
                    </a:lnB>
                    <a:noFill/>
                  </a:tcPr>
                </a:tc>
                <a:tc>
                  <a:txBody>
                    <a:bodyPr/>
                    <a:lstStyle/>
                    <a:p>
                      <a:pPr algn="l"/>
                      <a:r>
                        <a:rPr sz="1500" b="0" i="0" u="none" dirty="0">
                          <a:solidFill>
                            <a:srgbClr val="475569"/>
                          </a:solidFill>
                          <a:latin typeface="Lato"/>
                        </a:rPr>
                        <a:t>Gate attempts routing to Weather, but extreme OOD embeddings cause failure.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7" name="Rectangle 6"/>
          <p:cNvSpPr/>
          <p:nvPr/>
        </p:nvSpPr>
        <p:spPr>
          <a:xfrm>
            <a:off x="571500" y="3076575"/>
            <a:ext cx="229478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66280" y="3076575"/>
            <a:ext cx="16235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89846" y="3076575"/>
            <a:ext cx="188833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78178" y="3076575"/>
            <a:ext cx="524232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71500" y="4038600"/>
            <a:ext cx="229478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866280" y="4038600"/>
            <a:ext cx="16235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89846" y="4038600"/>
            <a:ext cx="188833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78178" y="4038600"/>
            <a:ext cx="524232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71500" y="4695825"/>
            <a:ext cx="229478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866280" y="4695825"/>
            <a:ext cx="16235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489846" y="4695825"/>
            <a:ext cx="188833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78178" y="4695825"/>
            <a:ext cx="524232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71500" y="557212"/>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Discussion: Resilience Under Stress</a:t>
            </a:r>
          </a:p>
        </p:txBody>
      </p:sp>
      <p:sp>
        <p:nvSpPr>
          <p:cNvPr id="20" name="Rectangle 19"/>
          <p:cNvSpPr/>
          <p:nvPr/>
        </p:nvSpPr>
        <p:spPr>
          <a:xfrm>
            <a:off x="571500" y="1223962"/>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247900"/>
            <a:ext cx="5286375" cy="3438525"/>
          </a:xfrm>
          <a:prstGeom prst="rect">
            <a:avLst/>
          </a:prstGeom>
        </p:spPr>
      </p:pic>
      <p:pic>
        <p:nvPicPr>
          <p:cNvPr id="4" name="Picture 3" descr="image.png"/>
          <p:cNvPicPr>
            <a:picLocks noChangeAspect="1"/>
          </p:cNvPicPr>
          <p:nvPr/>
        </p:nvPicPr>
        <p:blipFill>
          <a:blip r:embed="rId4"/>
          <a:stretch>
            <a:fillRect/>
          </a:stretch>
        </p:blipFill>
        <p:spPr>
          <a:xfrm>
            <a:off x="6334125" y="2247900"/>
            <a:ext cx="5286375" cy="3438525"/>
          </a:xfrm>
          <a:prstGeom prst="rect">
            <a:avLst/>
          </a:prstGeom>
        </p:spPr>
      </p:pic>
      <p:sp>
        <p:nvSpPr>
          <p:cNvPr id="5" name="TextBox 4"/>
          <p:cNvSpPr txBox="1"/>
          <p:nvPr/>
        </p:nvSpPr>
        <p:spPr>
          <a:xfrm>
            <a:off x="962025" y="2638425"/>
            <a:ext cx="4730591" cy="400050"/>
          </a:xfrm>
          <a:prstGeom prst="rect">
            <a:avLst/>
          </a:prstGeom>
          <a:noFill/>
        </p:spPr>
        <p:txBody>
          <a:bodyPr wrap="square" lIns="0" tIns="0" rIns="0" bIns="0" anchor="t">
            <a:spAutoFit/>
          </a:bodyPr>
          <a:lstStyle/>
          <a:p>
            <a:pPr algn="l"/>
            <a:r>
              <a:rPr sz="2100" b="1" i="0" u="none">
                <a:solidFill>
                  <a:srgbClr val="0284C7"/>
                </a:solidFill>
                <a:latin typeface="Poppins"/>
              </a:rPr>
              <a:t>SHAP Validation (XAI)</a:t>
            </a:r>
          </a:p>
        </p:txBody>
      </p:sp>
      <p:sp>
        <p:nvSpPr>
          <p:cNvPr id="6" name="TextBox 5"/>
          <p:cNvSpPr txBox="1"/>
          <p:nvPr/>
        </p:nvSpPr>
        <p:spPr>
          <a:xfrm>
            <a:off x="962025" y="3181350"/>
            <a:ext cx="4505325" cy="9144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Extracted feature importance confirmed the network prioritized critical biological drivers like Vapor Pressure Deficit and Max Temperature in mid-summer.</a:t>
            </a:r>
          </a:p>
        </p:txBody>
      </p:sp>
      <p:sp>
        <p:nvSpPr>
          <p:cNvPr id="7" name="TextBox 6"/>
          <p:cNvSpPr txBox="1"/>
          <p:nvPr/>
        </p:nvSpPr>
        <p:spPr>
          <a:xfrm>
            <a:off x="962025" y="4238625"/>
            <a:ext cx="4505325" cy="9144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This validates that the deep learning model is mapping to actual agronomic realities, rather than memorizing noise.</a:t>
            </a:r>
          </a:p>
        </p:txBody>
      </p:sp>
      <p:sp>
        <p:nvSpPr>
          <p:cNvPr id="8" name="TextBox 7"/>
          <p:cNvSpPr txBox="1"/>
          <p:nvPr/>
        </p:nvSpPr>
        <p:spPr>
          <a:xfrm>
            <a:off x="6724650" y="2638425"/>
            <a:ext cx="4730591" cy="400050"/>
          </a:xfrm>
          <a:prstGeom prst="rect">
            <a:avLst/>
          </a:prstGeom>
          <a:noFill/>
        </p:spPr>
        <p:txBody>
          <a:bodyPr wrap="square" lIns="0" tIns="0" rIns="0" bIns="0" anchor="t">
            <a:spAutoFit/>
          </a:bodyPr>
          <a:lstStyle/>
          <a:p>
            <a:pPr algn="l"/>
            <a:r>
              <a:rPr sz="2100" b="1" i="0" u="none">
                <a:solidFill>
                  <a:srgbClr val="0284C7"/>
                </a:solidFill>
                <a:latin typeface="Poppins"/>
              </a:rPr>
              <a:t>Geographic Bias Audit</a:t>
            </a:r>
          </a:p>
        </p:txBody>
      </p:sp>
      <p:sp>
        <p:nvSpPr>
          <p:cNvPr id="9" name="TextBox 8"/>
          <p:cNvSpPr txBox="1"/>
          <p:nvPr/>
        </p:nvSpPr>
        <p:spPr>
          <a:xfrm>
            <a:off x="6724650" y="3181350"/>
            <a:ext cx="4505325" cy="9144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The model hyper-optimized for the Corn Belt due to data density. The Max/min RMSE ratio across states was a concerning 32.95x.</a:t>
            </a:r>
          </a:p>
        </p:txBody>
      </p:sp>
      <p:sp>
        <p:nvSpPr>
          <p:cNvPr id="10" name="TextBox 9"/>
          <p:cNvSpPr txBox="1"/>
          <p:nvPr/>
        </p:nvSpPr>
        <p:spPr>
          <a:xfrm>
            <a:off x="6724650" y="4238625"/>
            <a:ext cx="4505325" cy="9144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This indicates that marginal farming states suffered higher errors, mandating equity-weighted loss functions for future iterations.</a:t>
            </a:r>
          </a:p>
        </p:txBody>
      </p:sp>
      <p:sp>
        <p:nvSpPr>
          <p:cNvPr id="11" name="TextBox 10"/>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Discussion: Interpretability &amp; Fairness</a:t>
            </a:r>
          </a:p>
        </p:txBody>
      </p:sp>
      <p:sp>
        <p:nvSpPr>
          <p:cNvPr id="12" name="Rectangle 11"/>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1508670"/>
            <a:ext cx="5372100" cy="2419440"/>
          </a:xfrm>
          <a:prstGeom prst="rect">
            <a:avLst/>
          </a:prstGeom>
        </p:spPr>
      </p:pic>
      <p:pic>
        <p:nvPicPr>
          <p:cNvPr id="4" name="Picture 3" descr="image.png"/>
          <p:cNvPicPr>
            <a:picLocks noChangeAspect="1"/>
          </p:cNvPicPr>
          <p:nvPr/>
        </p:nvPicPr>
        <p:blipFill>
          <a:blip r:embed="rId4"/>
          <a:stretch>
            <a:fillRect/>
          </a:stretch>
        </p:blipFill>
        <p:spPr>
          <a:xfrm>
            <a:off x="6238875" y="1508670"/>
            <a:ext cx="5372100" cy="2453134"/>
          </a:xfrm>
          <a:prstGeom prst="rect">
            <a:avLst/>
          </a:prstGeom>
        </p:spPr>
      </p:pic>
      <p:pic>
        <p:nvPicPr>
          <p:cNvPr id="5" name="Picture 4" descr="image.png"/>
          <p:cNvPicPr>
            <a:picLocks noChangeAspect="1"/>
          </p:cNvPicPr>
          <p:nvPr/>
        </p:nvPicPr>
        <p:blipFill>
          <a:blip r:embed="rId5"/>
          <a:stretch>
            <a:fillRect/>
          </a:stretch>
        </p:blipFill>
        <p:spPr>
          <a:xfrm>
            <a:off x="524827" y="4294584"/>
            <a:ext cx="5372100" cy="2287785"/>
          </a:xfrm>
          <a:prstGeom prst="rect">
            <a:avLst/>
          </a:prstGeom>
        </p:spPr>
      </p:pic>
      <p:pic>
        <p:nvPicPr>
          <p:cNvPr id="6" name="Picture 5" descr="image.png"/>
          <p:cNvPicPr>
            <a:picLocks noChangeAspect="1"/>
          </p:cNvPicPr>
          <p:nvPr/>
        </p:nvPicPr>
        <p:blipFill>
          <a:blip r:embed="rId6"/>
          <a:stretch>
            <a:fillRect/>
          </a:stretch>
        </p:blipFill>
        <p:spPr>
          <a:xfrm>
            <a:off x="6253353" y="4294584"/>
            <a:ext cx="5372100" cy="2287785"/>
          </a:xfrm>
          <a:prstGeom prst="rect">
            <a:avLst/>
          </a:prstGeom>
        </p:spPr>
      </p:pic>
      <p:sp>
        <p:nvSpPr>
          <p:cNvPr id="7" name="TextBox 6"/>
          <p:cNvSpPr txBox="1"/>
          <p:nvPr/>
        </p:nvSpPr>
        <p:spPr>
          <a:xfrm>
            <a:off x="876300" y="1832520"/>
            <a:ext cx="5020627" cy="274290"/>
          </a:xfrm>
          <a:prstGeom prst="rect">
            <a:avLst/>
          </a:prstGeom>
          <a:noFill/>
        </p:spPr>
        <p:txBody>
          <a:bodyPr wrap="square" lIns="0" tIns="0" rIns="0" bIns="0" anchor="t">
            <a:spAutoFit/>
          </a:bodyPr>
          <a:lstStyle/>
          <a:p>
            <a:pPr algn="l">
              <a:lnSpc>
                <a:spcPts val="2160"/>
              </a:lnSpc>
            </a:pPr>
            <a:r>
              <a:rPr sz="1800" b="0" i="0" u="none">
                <a:solidFill>
                  <a:srgbClr val="1E293B"/>
                </a:solidFill>
                <a:latin typeface="Inter SemiBold"/>
              </a:rPr>
              <a:t>1. Gating Helps, But Isn't Magic</a:t>
            </a:r>
          </a:p>
        </p:txBody>
      </p:sp>
      <p:sp>
        <p:nvSpPr>
          <p:cNvPr id="8" name="TextBox 7"/>
          <p:cNvSpPr txBox="1"/>
          <p:nvPr/>
        </p:nvSpPr>
        <p:spPr>
          <a:xfrm>
            <a:off x="6534150" y="1832520"/>
            <a:ext cx="5020627" cy="274290"/>
          </a:xfrm>
          <a:prstGeom prst="rect">
            <a:avLst/>
          </a:prstGeom>
          <a:noFill/>
        </p:spPr>
        <p:txBody>
          <a:bodyPr wrap="square" lIns="0" tIns="0" rIns="0" bIns="0" anchor="t">
            <a:spAutoFit/>
          </a:bodyPr>
          <a:lstStyle/>
          <a:p>
            <a:pPr algn="l">
              <a:lnSpc>
                <a:spcPts val="2160"/>
              </a:lnSpc>
            </a:pPr>
            <a:r>
              <a:rPr sz="1800" b="0" i="0" u="none">
                <a:solidFill>
                  <a:srgbClr val="1E293B"/>
                </a:solidFill>
                <a:latin typeface="Inter SemiBold"/>
              </a:rPr>
              <a:t>2. Late Fusion is Flawed</a:t>
            </a:r>
          </a:p>
        </p:txBody>
      </p:sp>
      <p:sp>
        <p:nvSpPr>
          <p:cNvPr id="9" name="TextBox 8"/>
          <p:cNvSpPr txBox="1"/>
          <p:nvPr/>
        </p:nvSpPr>
        <p:spPr>
          <a:xfrm>
            <a:off x="876300" y="5087987"/>
            <a:ext cx="5020627" cy="274290"/>
          </a:xfrm>
          <a:prstGeom prst="rect">
            <a:avLst/>
          </a:prstGeom>
          <a:noFill/>
        </p:spPr>
        <p:txBody>
          <a:bodyPr wrap="square" lIns="0" tIns="0" rIns="0" bIns="0" anchor="t">
            <a:spAutoFit/>
          </a:bodyPr>
          <a:lstStyle/>
          <a:p>
            <a:pPr algn="l">
              <a:lnSpc>
                <a:spcPts val="2160"/>
              </a:lnSpc>
            </a:pPr>
            <a:r>
              <a:rPr sz="1800" b="0" i="0" u="none" dirty="0">
                <a:solidFill>
                  <a:srgbClr val="1E293B"/>
                </a:solidFill>
                <a:latin typeface="Inter SemiBold"/>
              </a:rPr>
              <a:t>3. Data Infrastructure Barrier</a:t>
            </a:r>
          </a:p>
        </p:txBody>
      </p:sp>
      <p:sp>
        <p:nvSpPr>
          <p:cNvPr id="10" name="TextBox 9"/>
          <p:cNvSpPr txBox="1"/>
          <p:nvPr/>
        </p:nvSpPr>
        <p:spPr>
          <a:xfrm>
            <a:off x="6534150" y="5087987"/>
            <a:ext cx="5020627" cy="274290"/>
          </a:xfrm>
          <a:prstGeom prst="rect">
            <a:avLst/>
          </a:prstGeom>
          <a:noFill/>
        </p:spPr>
        <p:txBody>
          <a:bodyPr wrap="square" lIns="0" tIns="0" rIns="0" bIns="0" anchor="t">
            <a:spAutoFit/>
          </a:bodyPr>
          <a:lstStyle/>
          <a:p>
            <a:pPr algn="l">
              <a:lnSpc>
                <a:spcPts val="2160"/>
              </a:lnSpc>
            </a:pPr>
            <a:r>
              <a:rPr sz="1800" b="0" i="0" u="none">
                <a:solidFill>
                  <a:srgbClr val="1E293B"/>
                </a:solidFill>
                <a:latin typeface="Inter SemiBold"/>
              </a:rPr>
              <a:t>4. Geographic Bias is Severe</a:t>
            </a:r>
          </a:p>
        </p:txBody>
      </p:sp>
      <p:sp>
        <p:nvSpPr>
          <p:cNvPr id="11" name="TextBox 10"/>
          <p:cNvSpPr txBox="1"/>
          <p:nvPr/>
        </p:nvSpPr>
        <p:spPr>
          <a:xfrm>
            <a:off x="1162050" y="2221110"/>
            <a:ext cx="449580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GMU modestly outperforms weather-only (5.562 vs 5.763).</a:t>
            </a:r>
          </a:p>
        </p:txBody>
      </p:sp>
      <p:sp>
        <p:nvSpPr>
          <p:cNvPr id="12" name="TextBox 11"/>
          <p:cNvSpPr txBox="1"/>
          <p:nvPr/>
        </p:nvSpPr>
        <p:spPr>
          <a:xfrm>
            <a:off x="1162050" y="2903041"/>
            <a:ext cx="449580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Satellite encoder was TOO WEAK to provide meaningful correction.</a:t>
            </a:r>
          </a:p>
        </p:txBody>
      </p:sp>
      <p:sp>
        <p:nvSpPr>
          <p:cNvPr id="13" name="TextBox 12"/>
          <p:cNvSpPr txBox="1"/>
          <p:nvPr/>
        </p:nvSpPr>
        <p:spPr>
          <a:xfrm>
            <a:off x="1162050" y="3584971"/>
            <a:ext cx="449580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Limited by ~14 state-years of training data.</a:t>
            </a:r>
          </a:p>
        </p:txBody>
      </p:sp>
      <p:sp>
        <p:nvSpPr>
          <p:cNvPr id="14" name="TextBox 13"/>
          <p:cNvSpPr txBox="1"/>
          <p:nvPr/>
        </p:nvSpPr>
        <p:spPr>
          <a:xfrm>
            <a:off x="6819900" y="2221110"/>
            <a:ext cx="4495800" cy="548580"/>
          </a:xfrm>
          <a:prstGeom prst="rect">
            <a:avLst/>
          </a:prstGeom>
          <a:noFill/>
        </p:spPr>
        <p:txBody>
          <a:bodyPr wrap="square" lIns="0" tIns="0" rIns="0" bIns="0" anchor="t">
            <a:spAutoFit/>
          </a:bodyPr>
          <a:lstStyle/>
          <a:p>
            <a:pPr algn="l">
              <a:lnSpc>
                <a:spcPts val="2160"/>
              </a:lnSpc>
            </a:pPr>
            <a:r>
              <a:rPr sz="1350" b="0" i="0" u="none" dirty="0">
                <a:solidFill>
                  <a:srgbClr val="334155"/>
                </a:solidFill>
                <a:latin typeface="Inter"/>
              </a:rPr>
              <a:t>Optimizer assigned α=1.00 (100% weather) in Late Fusion.</a:t>
            </a:r>
          </a:p>
        </p:txBody>
      </p:sp>
      <p:sp>
        <p:nvSpPr>
          <p:cNvPr id="15" name="TextBox 14"/>
          <p:cNvSpPr txBox="1"/>
          <p:nvPr/>
        </p:nvSpPr>
        <p:spPr>
          <a:xfrm>
            <a:off x="6819900" y="2903041"/>
            <a:ext cx="449580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Decision-level fusion cannot recover from weak encoders.</a:t>
            </a:r>
          </a:p>
        </p:txBody>
      </p:sp>
      <p:sp>
        <p:nvSpPr>
          <p:cNvPr id="16" name="TextBox 15"/>
          <p:cNvSpPr txBox="1"/>
          <p:nvPr/>
        </p:nvSpPr>
        <p:spPr>
          <a:xfrm>
            <a:off x="6819900" y="3584971"/>
            <a:ext cx="449580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Embedding-level fusion is minimum viable strategy.</a:t>
            </a:r>
          </a:p>
        </p:txBody>
      </p:sp>
      <p:sp>
        <p:nvSpPr>
          <p:cNvPr id="17" name="TextBox 16"/>
          <p:cNvSpPr txBox="1"/>
          <p:nvPr/>
        </p:nvSpPr>
        <p:spPr>
          <a:xfrm>
            <a:off x="1162050" y="5476577"/>
            <a:ext cx="449580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FIPS misalignment limited multimodal training.</a:t>
            </a:r>
          </a:p>
        </p:txBody>
      </p:sp>
      <p:sp>
        <p:nvSpPr>
          <p:cNvPr id="18" name="TextBox 17"/>
          <p:cNvSpPr txBox="1"/>
          <p:nvPr/>
        </p:nvSpPr>
        <p:spPr>
          <a:xfrm>
            <a:off x="1162050" y="5884217"/>
            <a:ext cx="449580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This is a </a:t>
            </a:r>
            <a:r>
              <a:rPr sz="1350" b="0" i="0" u="none">
                <a:solidFill>
                  <a:srgbClr val="0F172A"/>
                </a:solidFill>
                <a:latin typeface="Inter SemiBold"/>
              </a:rPr>
              <a:t>DATA ENGINEERING</a:t>
            </a:r>
            <a:r>
              <a:rPr sz="1350" b="0" i="0" u="none">
                <a:solidFill>
                  <a:srgbClr val="334155"/>
                </a:solidFill>
                <a:latin typeface="Inter"/>
              </a:rPr>
              <a:t> problem, not an algorithmic one.</a:t>
            </a:r>
          </a:p>
        </p:txBody>
      </p:sp>
      <p:sp>
        <p:nvSpPr>
          <p:cNvPr id="19" name="TextBox 18"/>
          <p:cNvSpPr txBox="1"/>
          <p:nvPr/>
        </p:nvSpPr>
        <p:spPr>
          <a:xfrm>
            <a:off x="6819900" y="5476577"/>
            <a:ext cx="4495800" cy="274290"/>
          </a:xfrm>
          <a:prstGeom prst="rect">
            <a:avLst/>
          </a:prstGeom>
          <a:noFill/>
        </p:spPr>
        <p:txBody>
          <a:bodyPr wrap="square" lIns="0" tIns="0" rIns="0" bIns="0" anchor="t">
            <a:spAutoFit/>
          </a:bodyPr>
          <a:lstStyle/>
          <a:p>
            <a:pPr algn="l">
              <a:lnSpc>
                <a:spcPts val="2160"/>
              </a:lnSpc>
            </a:pPr>
            <a:r>
              <a:rPr sz="1350" b="0" i="0" u="none" dirty="0">
                <a:solidFill>
                  <a:srgbClr val="334155"/>
                </a:solidFill>
                <a:latin typeface="Inter"/>
              </a:rPr>
              <a:t>32.95× RMSE ratio between best and worst states.</a:t>
            </a:r>
          </a:p>
        </p:txBody>
      </p:sp>
      <p:sp>
        <p:nvSpPr>
          <p:cNvPr id="20" name="TextBox 19"/>
          <p:cNvSpPr txBox="1"/>
          <p:nvPr/>
        </p:nvSpPr>
        <p:spPr>
          <a:xfrm>
            <a:off x="6819900" y="5884217"/>
            <a:ext cx="449580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Poses a significant ethical concern for deployment in marginalized regions.</a:t>
            </a:r>
          </a:p>
        </p:txBody>
      </p:sp>
      <p:sp>
        <p:nvSpPr>
          <p:cNvPr id="21" name="TextBox 20"/>
          <p:cNvSpPr txBox="1"/>
          <p:nvPr/>
        </p:nvSpPr>
        <p:spPr>
          <a:xfrm>
            <a:off x="876300" y="2183010"/>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2" name="TextBox 21"/>
          <p:cNvSpPr txBox="1"/>
          <p:nvPr/>
        </p:nvSpPr>
        <p:spPr>
          <a:xfrm>
            <a:off x="876300" y="286494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3" name="TextBox 22"/>
          <p:cNvSpPr txBox="1"/>
          <p:nvPr/>
        </p:nvSpPr>
        <p:spPr>
          <a:xfrm>
            <a:off x="876300" y="354687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4" name="TextBox 23"/>
          <p:cNvSpPr txBox="1"/>
          <p:nvPr/>
        </p:nvSpPr>
        <p:spPr>
          <a:xfrm>
            <a:off x="6534150" y="2183010"/>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5" name="TextBox 24"/>
          <p:cNvSpPr txBox="1"/>
          <p:nvPr/>
        </p:nvSpPr>
        <p:spPr>
          <a:xfrm>
            <a:off x="6534150" y="286494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6" name="TextBox 25"/>
          <p:cNvSpPr txBox="1"/>
          <p:nvPr/>
        </p:nvSpPr>
        <p:spPr>
          <a:xfrm>
            <a:off x="6534150" y="354687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7" name="TextBox 26"/>
          <p:cNvSpPr txBox="1"/>
          <p:nvPr/>
        </p:nvSpPr>
        <p:spPr>
          <a:xfrm>
            <a:off x="876300" y="5438477"/>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8" name="TextBox 27"/>
          <p:cNvSpPr txBox="1"/>
          <p:nvPr/>
        </p:nvSpPr>
        <p:spPr>
          <a:xfrm>
            <a:off x="876300" y="5846117"/>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9" name="TextBox 28"/>
          <p:cNvSpPr txBox="1"/>
          <p:nvPr/>
        </p:nvSpPr>
        <p:spPr>
          <a:xfrm>
            <a:off x="6534150" y="5438477"/>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0" name="TextBox 29"/>
          <p:cNvSpPr txBox="1"/>
          <p:nvPr/>
        </p:nvSpPr>
        <p:spPr>
          <a:xfrm>
            <a:off x="6534150" y="5846117"/>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1" name="TextBox 30"/>
          <p:cNvSpPr txBox="1"/>
          <p:nvPr/>
        </p:nvSpPr>
        <p:spPr>
          <a:xfrm>
            <a:off x="581025" y="581025"/>
            <a:ext cx="11581447" cy="472117"/>
          </a:xfrm>
          <a:prstGeom prst="rect">
            <a:avLst/>
          </a:prstGeom>
          <a:noFill/>
        </p:spPr>
        <p:txBody>
          <a:bodyPr wrap="square" lIns="0" tIns="0" rIns="0" bIns="0" anchor="t">
            <a:spAutoFit/>
          </a:bodyPr>
          <a:lstStyle/>
          <a:p>
            <a:pPr algn="l">
              <a:lnSpc>
                <a:spcPts val="3779"/>
              </a:lnSpc>
            </a:pPr>
            <a:r>
              <a:rPr sz="3150" b="1" i="0" u="none" dirty="0">
                <a:solidFill>
                  <a:srgbClr val="2563EB"/>
                </a:solidFill>
                <a:latin typeface="Inter"/>
              </a:rPr>
              <a:t>Key Findings</a:t>
            </a:r>
          </a:p>
        </p:txBody>
      </p:sp>
      <p:sp>
        <p:nvSpPr>
          <p:cNvPr id="32" name="Rectangle 31"/>
          <p:cNvSpPr/>
          <p:nvPr/>
        </p:nvSpPr>
        <p:spPr>
          <a:xfrm>
            <a:off x="581025" y="1203870"/>
            <a:ext cx="1102995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285875" y="2271712"/>
            <a:ext cx="10048875" cy="609600"/>
          </a:xfrm>
          <a:prstGeom prst="rect">
            <a:avLst/>
          </a:prstGeom>
          <a:noFill/>
        </p:spPr>
        <p:txBody>
          <a:bodyPr wrap="square" lIns="0" tIns="0" rIns="0" bIns="0" anchor="t">
            <a:spAutoFit/>
          </a:bodyPr>
          <a:lstStyle/>
          <a:p>
            <a:pPr algn="l">
              <a:lnSpc>
                <a:spcPts val="2400"/>
              </a:lnSpc>
            </a:pPr>
            <a:r>
              <a:rPr sz="1500" b="1" i="0" u="none">
                <a:solidFill>
                  <a:srgbClr val="0F172A"/>
                </a:solidFill>
                <a:latin typeface="Lato"/>
              </a:rPr>
              <a:t>Algorithmic Superiority:</a:t>
            </a:r>
            <a:r>
              <a:rPr sz="1500" b="0" i="0" u="none">
                <a:solidFill>
                  <a:srgbClr val="475569"/>
                </a:solidFill>
                <a:latin typeface="Lato"/>
              </a:rPr>
              <a:t> Deep feature-level fusion with adaptive gating out-performs naive static fusion, providing crucial resilience against non-stationary agricultural noise.</a:t>
            </a:r>
          </a:p>
        </p:txBody>
      </p:sp>
      <p:sp>
        <p:nvSpPr>
          <p:cNvPr id="4" name="TextBox 3"/>
          <p:cNvSpPr txBox="1"/>
          <p:nvPr/>
        </p:nvSpPr>
        <p:spPr>
          <a:xfrm>
            <a:off x="1285875" y="3119437"/>
            <a:ext cx="10048875" cy="609600"/>
          </a:xfrm>
          <a:prstGeom prst="rect">
            <a:avLst/>
          </a:prstGeom>
          <a:noFill/>
        </p:spPr>
        <p:txBody>
          <a:bodyPr wrap="square" lIns="0" tIns="0" rIns="0" bIns="0" anchor="t">
            <a:spAutoFit/>
          </a:bodyPr>
          <a:lstStyle/>
          <a:p>
            <a:pPr algn="l">
              <a:lnSpc>
                <a:spcPts val="2400"/>
              </a:lnSpc>
            </a:pPr>
            <a:r>
              <a:rPr sz="1500" b="1" i="0" u="none">
                <a:solidFill>
                  <a:srgbClr val="0F172A"/>
                </a:solidFill>
                <a:latin typeface="Lato"/>
              </a:rPr>
              <a:t>Infrastructure Bottleneck:</a:t>
            </a:r>
            <a:r>
              <a:rPr sz="1500" b="0" i="0" u="none">
                <a:solidFill>
                  <a:srgbClr val="475569"/>
                </a:solidFill>
                <a:latin typeface="Lato"/>
              </a:rPr>
              <a:t> The FIPS alignment gap between Sentinel and USDA databases is the primary barrier to continental-scale deployment, overshadowing algorithmic constraints.</a:t>
            </a:r>
          </a:p>
        </p:txBody>
      </p:sp>
      <p:sp>
        <p:nvSpPr>
          <p:cNvPr id="5" name="TextBox 4"/>
          <p:cNvSpPr txBox="1"/>
          <p:nvPr/>
        </p:nvSpPr>
        <p:spPr>
          <a:xfrm>
            <a:off x="1285875" y="3967162"/>
            <a:ext cx="10048875" cy="609600"/>
          </a:xfrm>
          <a:prstGeom prst="rect">
            <a:avLst/>
          </a:prstGeom>
          <a:noFill/>
        </p:spPr>
        <p:txBody>
          <a:bodyPr wrap="square" lIns="0" tIns="0" rIns="0" bIns="0" anchor="t">
            <a:spAutoFit/>
          </a:bodyPr>
          <a:lstStyle/>
          <a:p>
            <a:pPr algn="l">
              <a:lnSpc>
                <a:spcPts val="2400"/>
              </a:lnSpc>
            </a:pPr>
            <a:r>
              <a:rPr sz="1500" b="1" i="0" u="none">
                <a:solidFill>
                  <a:srgbClr val="0F172A"/>
                </a:solidFill>
                <a:latin typeface="Lato"/>
              </a:rPr>
              <a:t>Deployment Safeguards:</a:t>
            </a:r>
            <a:r>
              <a:rPr sz="1500" b="0" i="0" u="none">
                <a:solidFill>
                  <a:srgbClr val="475569"/>
                </a:solidFill>
                <a:latin typeface="Lato"/>
              </a:rPr>
              <a:t> Our software demonstration proved that real-world deployment requires strict boundary checks to prevent cascading Out-of-Distribution failures during severe cloud cover.</a:t>
            </a:r>
          </a:p>
        </p:txBody>
      </p:sp>
      <p:sp>
        <p:nvSpPr>
          <p:cNvPr id="6" name="TextBox 5"/>
          <p:cNvSpPr txBox="1"/>
          <p:nvPr/>
        </p:nvSpPr>
        <p:spPr>
          <a:xfrm>
            <a:off x="1285875" y="4814887"/>
            <a:ext cx="10048875" cy="609600"/>
          </a:xfrm>
          <a:prstGeom prst="rect">
            <a:avLst/>
          </a:prstGeom>
          <a:noFill/>
        </p:spPr>
        <p:txBody>
          <a:bodyPr wrap="square" lIns="0" tIns="0" rIns="0" bIns="0" anchor="t">
            <a:spAutoFit/>
          </a:bodyPr>
          <a:lstStyle/>
          <a:p>
            <a:pPr algn="l">
              <a:lnSpc>
                <a:spcPts val="2400"/>
              </a:lnSpc>
            </a:pPr>
            <a:r>
              <a:rPr sz="1500" b="1" i="0" u="none">
                <a:solidFill>
                  <a:srgbClr val="0F172A"/>
                </a:solidFill>
                <a:latin typeface="Lato"/>
              </a:rPr>
              <a:t>Ethical AI Required:</a:t>
            </a:r>
            <a:r>
              <a:rPr sz="1500" b="0" i="0" u="none">
                <a:solidFill>
                  <a:srgbClr val="475569"/>
                </a:solidFill>
                <a:latin typeface="Lato"/>
              </a:rPr>
              <a:t> Geographic cross-validation error weighting is imperative to prevent systemic disenfranchisement of marginal farming regions in future agricultural AI tools.</a:t>
            </a:r>
          </a:p>
        </p:txBody>
      </p:sp>
      <p:pic>
        <p:nvPicPr>
          <p:cNvPr id="7" name="Picture 6" descr="image.png"/>
          <p:cNvPicPr>
            <a:picLocks noChangeAspect="1"/>
          </p:cNvPicPr>
          <p:nvPr/>
        </p:nvPicPr>
        <p:blipFill>
          <a:blip r:embed="rId3"/>
          <a:stretch>
            <a:fillRect/>
          </a:stretch>
        </p:blipFill>
        <p:spPr>
          <a:xfrm>
            <a:off x="857250" y="2314575"/>
            <a:ext cx="247650" cy="257175"/>
          </a:xfrm>
          <a:prstGeom prst="rect">
            <a:avLst/>
          </a:prstGeom>
        </p:spPr>
      </p:pic>
      <p:pic>
        <p:nvPicPr>
          <p:cNvPr id="8" name="Picture 7" descr="image.png"/>
          <p:cNvPicPr>
            <a:picLocks noChangeAspect="1"/>
          </p:cNvPicPr>
          <p:nvPr/>
        </p:nvPicPr>
        <p:blipFill>
          <a:blip r:embed="rId4"/>
          <a:stretch>
            <a:fillRect/>
          </a:stretch>
        </p:blipFill>
        <p:spPr>
          <a:xfrm>
            <a:off x="857250" y="3162300"/>
            <a:ext cx="247650" cy="257175"/>
          </a:xfrm>
          <a:prstGeom prst="rect">
            <a:avLst/>
          </a:prstGeom>
        </p:spPr>
      </p:pic>
      <p:pic>
        <p:nvPicPr>
          <p:cNvPr id="9" name="Picture 8" descr="image.png"/>
          <p:cNvPicPr>
            <a:picLocks noChangeAspect="1"/>
          </p:cNvPicPr>
          <p:nvPr/>
        </p:nvPicPr>
        <p:blipFill>
          <a:blip r:embed="rId5"/>
          <a:stretch>
            <a:fillRect/>
          </a:stretch>
        </p:blipFill>
        <p:spPr>
          <a:xfrm>
            <a:off x="857250" y="4010025"/>
            <a:ext cx="247650" cy="257175"/>
          </a:xfrm>
          <a:prstGeom prst="rect">
            <a:avLst/>
          </a:prstGeom>
        </p:spPr>
      </p:pic>
      <p:pic>
        <p:nvPicPr>
          <p:cNvPr id="10" name="Picture 9" descr="image.png"/>
          <p:cNvPicPr>
            <a:picLocks noChangeAspect="1"/>
          </p:cNvPicPr>
          <p:nvPr/>
        </p:nvPicPr>
        <p:blipFill>
          <a:blip r:embed="rId6"/>
          <a:stretch>
            <a:fillRect/>
          </a:stretch>
        </p:blipFill>
        <p:spPr>
          <a:xfrm>
            <a:off x="857250" y="4857750"/>
            <a:ext cx="314325" cy="257175"/>
          </a:xfrm>
          <a:prstGeom prst="rect">
            <a:avLst/>
          </a:prstGeom>
        </p:spPr>
      </p:pic>
      <p:sp>
        <p:nvSpPr>
          <p:cNvPr id="11" name="TextBox 10"/>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Conclusions &amp; Recommendations</a:t>
            </a:r>
          </a:p>
        </p:txBody>
      </p:sp>
      <p:sp>
        <p:nvSpPr>
          <p:cNvPr id="12" name="Rectangle 11"/>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3814762" y="3552825"/>
            <a:ext cx="4562475" cy="2042070"/>
          </a:xfrm>
          <a:prstGeom prst="rect">
            <a:avLst/>
          </a:prstGeom>
        </p:spPr>
      </p:pic>
      <p:sp>
        <p:nvSpPr>
          <p:cNvPr id="4" name="TextBox 3"/>
          <p:cNvSpPr txBox="1"/>
          <p:nvPr/>
        </p:nvSpPr>
        <p:spPr>
          <a:xfrm>
            <a:off x="4182639" y="1263104"/>
            <a:ext cx="3826572" cy="822870"/>
          </a:xfrm>
          <a:prstGeom prst="rect">
            <a:avLst/>
          </a:prstGeom>
          <a:noFill/>
        </p:spPr>
        <p:txBody>
          <a:bodyPr wrap="square" lIns="0" tIns="0" rIns="0" bIns="0" anchor="t">
            <a:spAutoFit/>
          </a:bodyPr>
          <a:lstStyle/>
          <a:p>
            <a:pPr algn="ctr">
              <a:lnSpc>
                <a:spcPts val="6480"/>
              </a:lnSpc>
            </a:pPr>
            <a:r>
              <a:rPr sz="5400" b="1" i="0" u="none">
                <a:solidFill>
                  <a:srgbClr val="0F172A"/>
                </a:solidFill>
                <a:latin typeface="Inter"/>
              </a:rPr>
              <a:t>Thank You!</a:t>
            </a:r>
          </a:p>
        </p:txBody>
      </p:sp>
      <p:sp>
        <p:nvSpPr>
          <p:cNvPr id="6" name="TextBox 5"/>
          <p:cNvSpPr txBox="1"/>
          <p:nvPr/>
        </p:nvSpPr>
        <p:spPr>
          <a:xfrm>
            <a:off x="4300537" y="3800475"/>
            <a:ext cx="3590925" cy="426690"/>
          </a:xfrm>
          <a:prstGeom prst="rect">
            <a:avLst/>
          </a:prstGeom>
          <a:noFill/>
        </p:spPr>
        <p:txBody>
          <a:bodyPr wrap="square" lIns="0" tIns="0" rIns="0" bIns="0" anchor="t">
            <a:spAutoFit/>
          </a:bodyPr>
          <a:lstStyle/>
          <a:p>
            <a:pPr algn="ctr">
              <a:lnSpc>
                <a:spcPts val="3359"/>
              </a:lnSpc>
            </a:pPr>
            <a:r>
              <a:rPr sz="2100" b="1" i="0" u="none">
                <a:solidFill>
                  <a:srgbClr val="0F172A"/>
                </a:solidFill>
                <a:latin typeface="Inter"/>
              </a:rPr>
              <a:t>Dipanjan Das (202441750)</a:t>
            </a:r>
          </a:p>
        </p:txBody>
      </p:sp>
      <p:sp>
        <p:nvSpPr>
          <p:cNvPr id="7" name="TextBox 6"/>
          <p:cNvSpPr txBox="1"/>
          <p:nvPr/>
        </p:nvSpPr>
        <p:spPr>
          <a:xfrm>
            <a:off x="4300537" y="4274790"/>
            <a:ext cx="3590925" cy="274290"/>
          </a:xfrm>
          <a:prstGeom prst="rect">
            <a:avLst/>
          </a:prstGeom>
          <a:noFill/>
        </p:spPr>
        <p:txBody>
          <a:bodyPr wrap="square" lIns="0" tIns="0" rIns="0" bIns="0" anchor="t">
            <a:spAutoFit/>
          </a:bodyPr>
          <a:lstStyle/>
          <a:p>
            <a:pPr algn="ctr">
              <a:lnSpc>
                <a:spcPts val="2160"/>
              </a:lnSpc>
            </a:pPr>
            <a:r>
              <a:rPr sz="1350" b="0" i="0" u="none">
                <a:solidFill>
                  <a:srgbClr val="64748B"/>
                </a:solidFill>
                <a:latin typeface="Inter"/>
              </a:rPr>
              <a:t>MSc Artificial Intelligence | University of Hull</a:t>
            </a:r>
          </a:p>
        </p:txBody>
      </p:sp>
      <p:sp>
        <p:nvSpPr>
          <p:cNvPr id="8" name="TextBox 7"/>
          <p:cNvSpPr txBox="1"/>
          <p:nvPr/>
        </p:nvSpPr>
        <p:spPr>
          <a:xfrm>
            <a:off x="4309681" y="4691955"/>
            <a:ext cx="3590925" cy="257315"/>
          </a:xfrm>
          <a:prstGeom prst="rect">
            <a:avLst/>
          </a:prstGeom>
          <a:noFill/>
        </p:spPr>
        <p:txBody>
          <a:bodyPr wrap="square" lIns="247650" tIns="0" rIns="0" bIns="0" anchor="t">
            <a:spAutoFit/>
          </a:bodyPr>
          <a:lstStyle/>
          <a:p>
            <a:pPr algn="ctr">
              <a:lnSpc>
                <a:spcPts val="2160"/>
              </a:lnSpc>
            </a:pPr>
            <a:r>
              <a:rPr lang="en-IN" sz="1350" dirty="0">
                <a:solidFill>
                  <a:srgbClr val="2563EB"/>
                </a:solidFill>
                <a:latin typeface="Inter"/>
              </a:rPr>
              <a:t>                D.DAS7-2023@hull.ac.uk</a:t>
            </a:r>
            <a:endParaRPr sz="1350" b="0" i="0" u="none" dirty="0">
              <a:solidFill>
                <a:srgbClr val="2563EB"/>
              </a:solidFill>
              <a:latin typeface="Inter"/>
            </a:endParaRPr>
          </a:p>
        </p:txBody>
      </p:sp>
      <p:pic>
        <p:nvPicPr>
          <p:cNvPr id="9" name="Picture 8" descr="image.png"/>
          <p:cNvPicPr>
            <a:picLocks noChangeAspect="1"/>
          </p:cNvPicPr>
          <p:nvPr/>
        </p:nvPicPr>
        <p:blipFill>
          <a:blip r:embed="rId4"/>
          <a:stretch>
            <a:fillRect/>
          </a:stretch>
        </p:blipFill>
        <p:spPr>
          <a:xfrm>
            <a:off x="5457825" y="4739580"/>
            <a:ext cx="171450" cy="1714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0ba80c0-adc4-414b-8b69-ae12e404c589}" enabled="1" method="Standard" siteId="{fa8c194a-f8e2-43c5-bc39-b637579e39e0}" contentBits="0" removed="0"/>
</clbl:labelList>
</file>

<file path=docProps/app.xml><?xml version="1.0" encoding="utf-8"?>
<Properties xmlns="http://schemas.openxmlformats.org/officeDocument/2006/extended-properties" xmlns:vt="http://schemas.openxmlformats.org/officeDocument/2006/docPropsVTypes">
  <TotalTime>4237</TotalTime>
  <Words>1192</Words>
  <Application>Microsoft Office PowerPoint</Application>
  <PresentationFormat>Widescreen</PresentationFormat>
  <Paragraphs>144</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Arial</vt:lpstr>
      <vt:lpstr>Calibri</vt:lpstr>
      <vt:lpstr>Inter</vt:lpstr>
      <vt:lpstr>Inter SemiBold</vt:lpstr>
      <vt:lpstr>Lato</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dipanjan das</cp:lastModifiedBy>
  <cp:revision>8</cp:revision>
  <dcterms:created xsi:type="dcterms:W3CDTF">2013-01-27T09:14:16Z</dcterms:created>
  <dcterms:modified xsi:type="dcterms:W3CDTF">2026-09-10T03:22:20Z</dcterms:modified>
  <cp:category/>
</cp:coreProperties>
</file>