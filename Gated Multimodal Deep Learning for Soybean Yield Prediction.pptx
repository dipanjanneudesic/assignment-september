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5342" y="1389757"/>
            <a:ext cx="1052131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27AE60"/>
                </a:solidFill>
                <a:latin typeface="Merriweather"/>
              </a:rPr>
              <a:t>Sustainable Crop Yield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9350" y="2561332"/>
            <a:ext cx="73533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1" u="none">
                <a:solidFill>
                  <a:srgbClr val="7F8C8D"/>
                </a:solidFill>
                <a:latin typeface="DM Sans"/>
              </a:rPr>
              <a:t>via Multi-modal AI: Robustness under Modality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1012" y="3502372"/>
            <a:ext cx="36099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34495E"/>
                </a:solidFill>
                <a:latin typeface="DM Sans"/>
              </a:rPr>
              <a:t>MSc Dissertation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5362" y="4287142"/>
            <a:ext cx="2581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555555"/>
                </a:solidFill>
                <a:latin typeface="DM Sans"/>
              </a:rPr>
              <a:t>By Dipanjan Das (202441750)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3862" y="4972942"/>
            <a:ext cx="3724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555555"/>
                </a:solidFill>
                <a:latin typeface="DM Sans"/>
              </a:rPr>
              <a:t>MSc Artificial Intelligence, University of Hull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5227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52277"/>
            <a:ext cx="5600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980B9"/>
                </a:solidFill>
                <a:latin typeface="Merriweather"/>
              </a:rPr>
              <a:t>Fragility of Current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104727"/>
            <a:ext cx="5334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Modern Agricultural AI relies heavily on Earth Observation (EO) data. However, real-world deployment faces severe limitations: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319760"/>
            <a:ext cx="50006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Optical Satellites (Sentinel-2):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Frequently obstructed by cloud cover, rendering spatial data useless.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468117"/>
            <a:ext cx="5000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Meteorological Models: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Lack spatial granularity to capture localized crop stress.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5281314"/>
            <a:ext cx="50006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Naive Fusion: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Standard models (early/late fusion) fail catastrophically when forced to digest noise from corrupted modalities.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62622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10980"/>
            <a:ext cx="1238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24177"/>
            <a:ext cx="23812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28327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The Challenge: Modality Degradation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47452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89870"/>
            <a:ext cx="3492549" cy="27088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3489870"/>
            <a:ext cx="3492549" cy="27088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3489870"/>
            <a:ext cx="3492549" cy="27088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09750" y="2011858"/>
            <a:ext cx="857250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555555"/>
                </a:solidFill>
                <a:latin typeface="DM Sans"/>
              </a:rPr>
              <a:t>Aim:</a:t>
            </a:r>
            <a:r>
              <a:rPr sz="1800" b="0" i="0" u="none">
                <a:solidFill>
                  <a:srgbClr val="555555"/>
                </a:solidFill>
                <a:latin typeface="DM Sans"/>
              </a:rPr>
              <a:t> Develop and evaluate a </a:t>
            </a:r>
            <a:r>
              <a:rPr sz="1800" b="0" i="1" u="none">
                <a:solidFill>
                  <a:srgbClr val="555555"/>
                </a:solidFill>
                <a:latin typeface="DM Sans"/>
              </a:rPr>
              <a:t>Gated Multimodal Deep Learning (GMU)</a:t>
            </a:r>
            <a:r>
              <a:rPr sz="1800" b="0" i="0" u="none">
                <a:solidFill>
                  <a:srgbClr val="555555"/>
                </a:solidFill>
                <a:latin typeface="DM Sans"/>
              </a:rPr>
              <a:t> architecture that dynamically adapts to missing or corrupted input modalities for US soybean yield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2636" y="4375695"/>
            <a:ext cx="103012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980B9"/>
                </a:solidFill>
                <a:latin typeface="Merriweather"/>
              </a:rPr>
              <a:t>Baselines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956720"/>
            <a:ext cx="29972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555555"/>
                </a:solidFill>
                <a:latin typeface="DM Sans"/>
              </a:rPr>
              <a:t>Establish performance floors using Unimodal (Weather-only, Satellite-only) and Static Fusion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914" y="4375695"/>
            <a:ext cx="137017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980B9"/>
                </a:solidFill>
                <a:latin typeface="Merriweather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49" y="4956720"/>
            <a:ext cx="29972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555555"/>
                </a:solidFill>
                <a:latin typeface="DM Sans"/>
              </a:rPr>
              <a:t>Engineer a GMU to calculate dense attention weights, dynamically adjusting modality importance.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9202" y="4375695"/>
            <a:ext cx="155019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980B9"/>
                </a:solidFill>
                <a:latin typeface="Merriweather"/>
              </a:rPr>
              <a:t>Stress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749" y="4956720"/>
            <a:ext cx="299724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555555"/>
                </a:solidFill>
                <a:latin typeface="DM Sans"/>
              </a:rPr>
              <a:t>Quantify network resilience under simulated sensor failure and cloud occlusion (up to 75% corruption).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387" y="3785145"/>
            <a:ext cx="42862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3785145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7612" y="3785145"/>
            <a:ext cx="333375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Aims &amp; Objectives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36824"/>
            <a:ext cx="5600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980B9"/>
                </a:solidFill>
                <a:latin typeface="Merriweather"/>
              </a:rPr>
              <a:t>The CropNet Benchmark (2016-2022)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647182"/>
            <a:ext cx="5600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980B9"/>
                </a:solidFill>
                <a:latin typeface="Merriweather"/>
              </a:rPr>
              <a:t>The FIPS Alignment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199632"/>
            <a:ext cx="5334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A profound infrastructural mismatch was discovered: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44342"/>
            <a:ext cx="5334000" cy="1291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3425" y="2223551"/>
            <a:ext cx="762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222599"/>
            <a:ext cx="5095875" cy="33516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Target: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USDA NASS Soybean Yield (BU/ACRE).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2673012"/>
            <a:ext cx="762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72060"/>
            <a:ext cx="5095875" cy="33516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Temporal: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HRRR Meteorological Tensors (Bi-LSTM).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3122473"/>
            <a:ext cx="762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55555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121521"/>
            <a:ext cx="5095875" cy="33516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Spatial: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Sentinel-2 Multispectral Imagery (CNN).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Data Scope &amp; Infrastructural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53631"/>
            <a:ext cx="5334000" cy="811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295673"/>
            <a:ext cx="533400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7AE60"/>
                </a:solidFill>
                <a:latin typeface="DM Sans"/>
              </a:rPr>
              <a:t>10.74</a:t>
            </a:r>
            <a:r>
              <a:t>
</a:t>
            </a:r>
            <a:r>
              <a:rPr sz="1200" b="0" i="0" u="none">
                <a:solidFill>
                  <a:srgbClr val="7F8C8D"/>
                </a:solidFill>
                <a:latin typeface="DM Sans"/>
              </a:rPr>
              <a:t>Standard Deviation (BU/ACRE)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591073"/>
            <a:ext cx="5334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Raw USDA yield data showed massive inter-annual volatility and non-normality (Shapiro-Wilk W=0.9675, p=0.0000).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806106"/>
            <a:ext cx="5334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Solution: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Log-transformation of the target variable for SGD optimization.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286148"/>
            <a:ext cx="5600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980B9"/>
                </a:solidFill>
                <a:latin typeface="Merriweather"/>
              </a:rPr>
              <a:t>Jensen's Bias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838598"/>
            <a:ext cx="5334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Due to the convexity of the exponential function, inverse transformation systematically underestimates yield.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5055691"/>
            <a:ext cx="5334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1" u="none">
                <a:solidFill>
                  <a:srgbClr val="555555"/>
                </a:solidFill>
                <a:latin typeface="DM Sans"/>
              </a:rPr>
              <a:t>Applied during inference to ensure outputs are physically readable and accurate.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244131"/>
            <a:ext cx="4905375" cy="4305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Statistical Target Transformation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32670"/>
            <a:ext cx="3867150" cy="21106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3178373"/>
            <a:ext cx="6629400" cy="1819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8737" y="2411759"/>
            <a:ext cx="95345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Deep feature-level fusion replacing static algebraic averaging with adaptive mathematical gating.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1825" y="5333851"/>
            <a:ext cx="58483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1" u="none">
                <a:solidFill>
                  <a:srgbClr val="555555"/>
                </a:solidFill>
                <a:latin typeface="DM Sans"/>
              </a:rPr>
              <a:t>The gate scalar dynamically routes predictions based on input reliability.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0018" y="3280320"/>
            <a:ext cx="91011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E67E22"/>
                </a:solidFill>
                <a:latin typeface="Merriweather"/>
              </a:rPr>
              <a:t>Encoders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7765" y="3832770"/>
            <a:ext cx="2194619" cy="261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555555"/>
                </a:solidFill>
                <a:latin typeface="DM Sans"/>
              </a:rPr>
              <a:t>Weather:</a:t>
            </a:r>
            <a:r>
              <a:rPr sz="1350" b="0" i="0" u="none" dirty="0">
                <a:solidFill>
                  <a:srgbClr val="555555"/>
                </a:solidFill>
                <a:latin typeface="DM Sans"/>
              </a:rPr>
              <a:t> Bi-LSTM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1014" y="4449960"/>
            <a:ext cx="2587972" cy="261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555555"/>
                </a:solidFill>
                <a:latin typeface="DM Sans"/>
              </a:rPr>
              <a:t>Satellite:</a:t>
            </a:r>
            <a:r>
              <a:rPr sz="1350" b="0" i="0" u="none" dirty="0">
                <a:solidFill>
                  <a:srgbClr val="555555"/>
                </a:solidFill>
                <a:latin typeface="DM Sans"/>
              </a:rPr>
              <a:t> </a:t>
            </a:r>
            <a:r>
              <a:rPr lang="en-IN" sz="1350" dirty="0">
                <a:solidFill>
                  <a:srgbClr val="555555"/>
                </a:solidFill>
                <a:latin typeface="DM Sans"/>
              </a:rPr>
              <a:t>CNN </a:t>
            </a:r>
            <a:endParaRPr sz="1350" b="0" i="0" u="none" dirty="0">
              <a:solidFill>
                <a:srgbClr val="555555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95661" y="3426023"/>
            <a:ext cx="222027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7AE60"/>
                </a:solidFill>
                <a:latin typeface="Merriweather"/>
              </a:rPr>
              <a:t>Dynamic Gating Logic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5438626"/>
            <a:ext cx="76200" cy="857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714" y="3997523"/>
            <a:ext cx="3280171" cy="20478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714" y="4345185"/>
            <a:ext cx="3280171" cy="2143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The Gated Multimodal Unit (GMU)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0925" y="1712862"/>
            <a:ext cx="50101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Evaluation on LOSO 2022 state-aggregate holdout.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333773"/>
          <a:ext cx="11048998" cy="3234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3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3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05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3E50"/>
                          </a:solidFill>
                          <a:latin typeface="DM Sans"/>
                        </a:rPr>
                        <a:t>Architecture Configuration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3E50"/>
                          </a:solidFill>
                          <a:latin typeface="DM Sans"/>
                        </a:rPr>
                        <a:t>RMSE (BU/ACRE)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3E50"/>
                          </a:solidFill>
                          <a:latin typeface="DM Sans"/>
                        </a:rPr>
                        <a:t>R²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05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Satellite-Only (CNN)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11.044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-2.904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05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Late Fusion (α-Blend)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5.763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0.612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5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Weather-Only (Bi-LSTM)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5.763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0.612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05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Early Fusion (Concat)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5.578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DM Sans"/>
                        </a:rPr>
                        <a:t>0.637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05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555555"/>
                          </a:solidFill>
                          <a:latin typeface="DM Sans"/>
                        </a:rPr>
                        <a:t>Gated Multimodal Unit (GMU)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555555"/>
                          </a:solidFill>
                          <a:latin typeface="DM Sans"/>
                        </a:rPr>
                        <a:t>5.562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555555"/>
                          </a:solidFill>
                          <a:latin typeface="DM Sans"/>
                        </a:rPr>
                        <a:t>0.639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" y="5758606"/>
            <a:ext cx="11049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0392B"/>
                </a:solidFill>
                <a:latin typeface="DM Sans"/>
              </a:rPr>
              <a:t>Diagnostic Insight:</a:t>
            </a:r>
            <a:r>
              <a:rPr sz="1350" b="0" i="0" u="none">
                <a:solidFill>
                  <a:srgbClr val="C0392B"/>
                </a:solidFill>
                <a:latin typeface="DM Sans"/>
              </a:rPr>
              <a:t> Late Fusion collapsed to the Weather-only baseline (assigned 0% weight to satellite), proving it cannot recover from a weak encoder.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858541"/>
            <a:ext cx="571336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84862" y="2858541"/>
            <a:ext cx="351249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97355" y="2858541"/>
            <a:ext cx="1823144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397597"/>
            <a:ext cx="571336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84862" y="3397597"/>
            <a:ext cx="351249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97355" y="3397597"/>
            <a:ext cx="1823144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936652"/>
            <a:ext cx="571336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84862" y="3936652"/>
            <a:ext cx="351249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97355" y="3936652"/>
            <a:ext cx="1823144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475708"/>
            <a:ext cx="571336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4862" y="4475708"/>
            <a:ext cx="351249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97355" y="4475708"/>
            <a:ext cx="1823144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" y="5014763"/>
            <a:ext cx="571336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4862" y="5014763"/>
            <a:ext cx="351249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97355" y="5014763"/>
            <a:ext cx="1823144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5553819"/>
            <a:ext cx="571336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84862" y="5553819"/>
            <a:ext cx="3512492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97355" y="5553819"/>
            <a:ext cx="1823144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379362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Results: Model Benchmarking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998487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1681"/>
            <a:ext cx="5334000" cy="22839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21681"/>
            <a:ext cx="5600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980B9"/>
                </a:solidFill>
                <a:latin typeface="Merriweather"/>
              </a:rPr>
              <a:t>Modality Dropout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74131"/>
            <a:ext cx="5334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The GMU was subjected to simulated sensor failures. A key finding was the autonomous gate shift: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45235"/>
            <a:ext cx="5334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When severe cloud occlusion occurred, plummeted to 0.08, successfully routing 92% of predictive logic through the uncorrupted weather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745706"/>
            <a:ext cx="53340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55555"/>
                </a:solidFill>
                <a:latin typeface="DM Sans"/>
              </a:rPr>
              <a:t>*Complete satellite removal produced extreme OOD embeddings, indicating a need for a binary availability safeguard at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454003"/>
            <a:ext cx="50006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Normal (Full):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Mean = 0.575 (Balanced)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932039"/>
            <a:ext cx="5000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Satellite Drop: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shifts to 0.621 (Routes towards Weather)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5" y="4888110"/>
            <a:ext cx="93017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225" y="3596878"/>
            <a:ext cx="93017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350" y="4074914"/>
            <a:ext cx="93017" cy="95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Operational Resilience (Stress Testing)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3897"/>
            <a:ext cx="5381625" cy="37141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33897"/>
            <a:ext cx="5381625" cy="37141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2170" y="3019722"/>
            <a:ext cx="228028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980B9"/>
                </a:solidFill>
                <a:latin typeface="Merriweather"/>
              </a:rPr>
              <a:t>SHAP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715047"/>
            <a:ext cx="4886325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SHAP KernelExplainer extracted feature importance, confirming the network prioritized critical biological drivers like Vapor Pressure Deficit and Max Temperature in mid-summer, aligning with agronomic reality.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4493" y="3019722"/>
            <a:ext cx="311038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980B9"/>
                </a:solidFill>
                <a:latin typeface="Merriweather"/>
              </a:rPr>
              <a:t>Geographic Bias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715047"/>
            <a:ext cx="4886325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555555"/>
                </a:solidFill>
                <a:latin typeface="DM Sans"/>
              </a:rPr>
              <a:t>The model hyper-optimized for the Corn Belt. Max/min RMSE ratio across states was 32.95x. Marginal states suffered higher errors, mandating equity-weighted loss functions for fair deployment.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812" y="242917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562" y="2429172"/>
            <a:ext cx="47625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Explainable AI &amp; Algorithmic Fairness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3125" y="2197000"/>
            <a:ext cx="8239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GMU Superiority: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Deep feature-level fusion with adaptive gating outperforms naive static fusion, providing crucial resilience against non-stationary noise.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3125" y="3010197"/>
            <a:ext cx="82391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Infrastructure Bottleneck: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The FIPS alignment gap between Sentinel and USDA databases is the primary barrier to continental-scale deployment, not algorithmic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3125" y="4158555"/>
            <a:ext cx="8239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Deployment Safeguards: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Real-world systems require binary satellite availability checks to prevent OOD failure cascades.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3125" y="4971752"/>
            <a:ext cx="8239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555555"/>
                </a:solidFill>
                <a:latin typeface="DM Sans"/>
              </a:rPr>
              <a:t>Ethical AI:</a:t>
            </a:r>
            <a:r>
              <a:rPr sz="1650" b="0" i="0" u="none">
                <a:solidFill>
                  <a:srgbClr val="555555"/>
                </a:solidFill>
                <a:latin typeface="DM Sans"/>
              </a:rPr>
              <a:t> Geographic cross-validation error weighting is imperative to prevent systemic disenfranchisement of marginal farming regions.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239863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053060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20141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014614"/>
            <a:ext cx="1714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2C3E50"/>
                </a:solidFill>
                <a:latin typeface="Merriweather"/>
              </a:rPr>
              <a:t>Conclusions &amp; Recommendations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0ba80c0-adc4-414b-8b69-ae12e404c589}" enabled="1" method="Standard" siteId="{fa8c194a-f8e2-43c5-bc39-b637579e39e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681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DM Sans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Das, Dipanjan</cp:lastModifiedBy>
  <cp:revision>5</cp:revision>
  <dcterms:created xsi:type="dcterms:W3CDTF">2013-01-27T09:14:16Z</dcterms:created>
  <dcterms:modified xsi:type="dcterms:W3CDTF">2026-08-25T06:05:00Z</dcterms:modified>
  <cp:category/>
</cp:coreProperties>
</file>